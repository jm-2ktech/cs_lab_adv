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7"/>
  </p:notesMasterIdLst>
  <p:sldIdLst>
    <p:sldId id="366" r:id="rId5"/>
    <p:sldId id="364" r:id="rId6"/>
    <p:sldId id="367" r:id="rId7"/>
    <p:sldId id="352" r:id="rId8"/>
    <p:sldId id="368" r:id="rId9"/>
    <p:sldId id="353" r:id="rId10"/>
    <p:sldId id="354" r:id="rId11"/>
    <p:sldId id="355" r:id="rId12"/>
    <p:sldId id="369" r:id="rId13"/>
    <p:sldId id="398" r:id="rId14"/>
    <p:sldId id="399" r:id="rId15"/>
    <p:sldId id="337" r:id="rId16"/>
    <p:sldId id="402" r:id="rId17"/>
    <p:sldId id="360" r:id="rId18"/>
    <p:sldId id="361" r:id="rId19"/>
    <p:sldId id="371" r:id="rId20"/>
    <p:sldId id="372" r:id="rId21"/>
    <p:sldId id="378" r:id="rId22"/>
    <p:sldId id="400" r:id="rId23"/>
    <p:sldId id="403" r:id="rId24"/>
    <p:sldId id="401" r:id="rId25"/>
    <p:sldId id="3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/>
    <p:restoredTop sz="72459" autoAdjust="0"/>
  </p:normalViewPr>
  <p:slideViewPr>
    <p:cSldViewPr snapToGrid="0" snapToObjects="1">
      <p:cViewPr varScale="1">
        <p:scale>
          <a:sx n="80" d="100"/>
          <a:sy n="80" d="100"/>
        </p:scale>
        <p:origin x="17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CE47E-4F56-461E-B2AB-D26CF6E108D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2291C-8DAA-4DAF-A547-4FAD8C96C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705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안녕하세요, 박종민입니다.</a:t>
            </a:r>
          </a:p>
          <a:p>
            <a:r>
              <a:rPr lang="ko-KR" dirty="0"/>
              <a:t>오늘은 Power Automate와 Copilot Studio를 결합한 HR 채용 자동화 핸즈온을 진행합니다.</a:t>
            </a:r>
          </a:p>
          <a:p>
            <a:r>
              <a:rPr lang="ko-KR" dirty="0"/>
              <a:t>서두에서는 "이 강의가 왜 지금 이 시점에 의미 있는지"를 먼저 이야기하고, 바로 본 핸즈온으로 넘어가겠습니다. 서두는 20분 정도 예상합니다.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가장 먼저 결론부터 드리겠습니다.</a:t>
            </a:r>
          </a:p>
          <a:p>
            <a:r>
              <a:rPr lang="ko-KR" dirty="0"/>
              <a:t>오늘 강의를 마치면 이 네 가지를 가져가게 됩니다.</a:t>
            </a:r>
          </a:p>
          <a:p>
            <a:r>
              <a:rPr lang="ko-KR" dirty="0"/>
              <a:t>첫째, 이메일 한 통이 들어오면 AI가 내용을 추출하고 SharePoint에 저장되고 Teams로 알림이 가는 — 채용 자동화 파이프라인을 직접 빌드하게 됩니다. 설명만 듣는 게 아니라, 오늘 직접 손으로 만드는 겁니다.</a:t>
            </a:r>
          </a:p>
          <a:p>
            <a:r>
              <a:rPr lang="ko-KR" dirty="0"/>
              <a:t>둘째, 사람이 개입하는 방식 두 가지를 모두 체득합니다. 흐름이 자동으로 멈추고 승인을 기다리는 비동기 방식, 그리고 에이전트가 대화 중에 직접 확인을 요청하는 대화형 방식. 이 두 패턴이 언제 쓰이는지를 손으로 만들면서 익히게 됩니다.</a:t>
            </a:r>
          </a:p>
          <a:p>
            <a:r>
              <a:rPr lang="ko-KR" dirty="0"/>
              <a:t>셋째, "어떤 걸 에이전트에 맡기고 어떤 걸 흐름으로 처리해야 하는가" — 이 설계 판단 기준이 내재화됩니다. 오늘 강의 전체가 이 원칙을 몸으로 배우는 과정입니다.</a:t>
            </a:r>
          </a:p>
          <a:p>
            <a:r>
              <a:rPr lang="ko-KR" dirty="0"/>
              <a:t>넷째, 이 판단 기준을 실제 시스템으로 조합해내는 AI 에이전트 오케스트레이션 설계 역량입니다. 오늘 강의가 그 역량을 그대로 훈련합니다.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본론 들어갑니다. 먼저 Power Platform 전체 그림을 잡겠습니다.</a:t>
            </a:r>
          </a:p>
          <a:p>
            <a:r>
              <a:rPr lang="ko-KR" dirty="0"/>
              <a:t>Power Apps, Power Automate, Power BI, Power Pages, Copilot Studio — 이 다섯 가지가 Microsoft 로우코드 비즈니스 플랫폼을 구성합니다.</a:t>
            </a:r>
          </a:p>
          <a:p>
            <a:r>
              <a:rPr lang="ko-KR" dirty="0"/>
              <a:t>오늘 집중하는 건 Power Automate와 Copilot Studio입니다. Power Automate는 흐름과 트랜잭션, Copilot Studio는 AI 에이전트. 이 둘이 오늘의 두 축입니다.</a:t>
            </a:r>
          </a:p>
          <a:p>
            <a:r>
              <a:rPr lang="ko-KR" dirty="0"/>
              <a:t>나머지 세 개는 오늘 다루지 않습니다. 익숙한 분도, 처음인 분도 있을 텐데 오늘은 두 축에만 집중하겠습니다.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Power Platform을 한 문장으로 정의하면 — 데이터와 사람, 시스템을 연결하는 접착제입니다.</a:t>
            </a:r>
          </a:p>
          <a:p>
            <a:r>
              <a:rPr lang="ko-KR" dirty="0"/>
              <a:t>왼쪽부터 보시면 Microsoft 365의 Teams·SharePoint·Outlook, Azure의 AI Foundry와 SQL, 그리고 Salesforce·SAP·GitHub 같은 외부 SaaS까지 연결됩니다. 아래쪽은 Dataverse와 REST API 같은 데이터 계층이고, 온프레미스 ERP나 구형 시스템은 PAD로 붙입니다.</a:t>
            </a:r>
          </a:p>
          <a:p>
            <a:r>
              <a:rPr lang="ko-KR" dirty="0"/>
              <a:t>마지막 축이 오늘 강의에서 가장 중요합니다 — 사람과 워크플로. 승인, 알림, HITL, 의사결정. 자동화의 마지막 판단은 사람이 한다는 겁니다.</a:t>
            </a:r>
          </a:p>
          <a:p>
            <a:r>
              <a:rPr lang="ko-KR" dirty="0"/>
              <a:t>이 전체 생태계를 설계하고 구축할 수 있는 팀이 오늘 안내를 맡습니다.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Microsoft의 AI 도구들을 한 화면에 놓고 보겠습니다. 왼쪽에서 오른쪽으로 난이도·권한·자율성이 올라가는 구조입니다.</a:t>
            </a:r>
          </a:p>
          <a:p>
            <a:r>
              <a:rPr lang="ko-KR" dirty="0"/>
              <a:t>M365 Agent Builder — 가장 쉽습니다. 선언형으로 만들고 셋업은 5분. SharePoint 지식만 연결되고 복잡한 로직은 없습니다. Copilot Studio의 단순 버전으로 보시면 됩니다.</a:t>
            </a:r>
          </a:p>
          <a:p>
            <a:r>
              <a:rPr lang="ko-KR" dirty="0"/>
              <a:t>App Builder — 자연어로 앱과 화면을 생성합니다. 아직 Frontier 단계이고 곧 정식 출시됩니다.</a:t>
            </a:r>
          </a:p>
          <a:p>
            <a:r>
              <a:rPr lang="ko-KR" dirty="0"/>
              <a:t>Copilot Cowork — 우리 테넌트에서 이미 사용 가능합니다. Claude 모델이 탑재된 도구인데, 뒤에서 따로 설명하겠습니다.</a:t>
            </a:r>
          </a:p>
          <a:p>
            <a:r>
              <a:rPr lang="ko-KR" dirty="0"/>
              <a:t>Copilot Studio — 오늘의 주인공입니다. 흐름, 커넥터, 외부 API, 거버넌스까지 다루는, 로우코드와 프로코드 사이의 실질적인 도구입니다.</a:t>
            </a:r>
          </a:p>
          <a:p>
            <a:r>
              <a:rPr lang="ko-KR" dirty="0"/>
              <a:t>Azure AI Foundry — 프로 엔지니어 영역이고, 오늘 범위 밖입니다.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여기서 짧게 시연을 하나 보여드리겠습니다.</a:t>
            </a:r>
          </a:p>
          <a:p>
            <a:r>
              <a:rPr lang="ko-KR" dirty="0"/>
              <a:t>실무에서 이력서는 HWP와 DOCX가 섞여서 들어옵니다. 그런데 AI가 읽기 좋은 형식은 PDF입니다. 이걸 한 장씩 열어서 다른 이름으로 저장하는 건 현실적으로 불가능하죠.</a:t>
            </a:r>
          </a:p>
          <a:p>
            <a:r>
              <a:rPr lang="ko-KR" dirty="0"/>
              <a:t>Power Automate Desktop으로 폴더 안의 파일을 한 번에 PDF로 배치 변환합니다. 지금 보시는 파일들이 오늘 강의에서 실제로 다루게 될 이력서 샘플입니다.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영상 재생합니다. 약 1분입니다.</a:t>
            </a:r>
          </a:p>
          <a:p>
            <a:r>
              <a:rPr lang="ko-KR" dirty="0"/>
              <a:t>HWP와 DOCX가 섞인 폴더를 PAD가 순서대로 열어서 PDF로 저장하는 과정입니다. 사람 손이 한 번도 들어가지 않는다는 점을 봐주세요.</a:t>
            </a:r>
          </a:p>
          <a:p>
            <a:r>
              <a:rPr lang="ko-KR" dirty="0"/>
              <a:t>재생이 끝나면, 왜 이 작업을 클라우드 흐름이 아니라 PAD로 했는지 다음 장에서 설명하겠습니다.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방금 시연한 게 바로 오른쪽, PAD입니다.</a:t>
            </a:r>
          </a:p>
          <a:p>
            <a:r>
              <a:rPr lang="ko-KR" dirty="0"/>
              <a:t>PAD는 데스크탑 UI를 직접 조작하는 RPA입니다. 레거시나 로컬 앱을 다룰 수 있지만, 내 PC가 켜져 있어야 동작합니다.</a:t>
            </a:r>
          </a:p>
          <a:p>
            <a:r>
              <a:rPr lang="ko-KR" dirty="0"/>
              <a:t>반면 왼쪽 클라우드 흐름은 이메일·웹훅·SharePoint 이벤트로 트리거되고, 커넥터와 API로 통합하고, 서버리스로 실행됩니다. 내 PC가 꺼져 있어도 돌아갑니다. 그리고 Copilot Studio와 네이티브로 연동됩니다.</a:t>
            </a:r>
          </a:p>
          <a:p>
            <a:r>
              <a:rPr lang="ko-KR" dirty="0"/>
              <a:t>오늘 강의는 클라우드 흐름 + Copilot Studio 조합을 다룹니다. PAD는 방금 보신 정도로 이해하시면 충분합니다.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전체 지형도에서 오늘 다룰 영역만 표시했습니다.</a:t>
            </a:r>
          </a:p>
          <a:p>
            <a:r>
              <a:rPr lang="ko-KR" dirty="0"/>
              <a:t>M365 Agent Builder, Copilot Cowork, App Builder, 그리고 Copilot Studio와 Power Automate 클라우드 흐름 — 여기까지가 오늘의 범위입니다.</a:t>
            </a:r>
          </a:p>
          <a:p>
            <a:r>
              <a:rPr lang="ko-KR" dirty="0"/>
              <a:t>Azure AI Foundry는 모델 파인튜닝과 RAG, 1,900개 이상의 모델을 다루는 영역이라 오늘은 제외합니다.</a:t>
            </a:r>
          </a:p>
          <a:p>
            <a:r>
              <a:rPr lang="ko-KR" dirty="0"/>
              <a:t>다만 오늘 배우는 내용이 그 다음 단계로 넘어가는 기반이 됩니다.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실습에 들어가기 전에, 오늘 쓰는 도구 세 개의 역할을 먼저 정리하겠습니다. 이 구분이 머릿속에 있으면 각 Lab에서 '왜 이걸 여기서 하는지'가 보입니다.</a:t>
            </a:r>
          </a:p>
          <a:p>
            <a:r>
              <a:rPr lang="ko-KR" dirty="0"/>
              <a:t>SharePoint는 데이터가 사는 곳입니다. 지원자 목록과 이력서가 여기 저장되고, 리스트의 컬럼이 곧 데이터 구조입니다. 승인 상태도 여기에 기록됩니다.</a:t>
            </a:r>
          </a:p>
          <a:p>
            <a:r>
              <a:rPr lang="ko-KR" dirty="0"/>
              <a:t>Power Automate는 상태를 바꾸는 곳입니다. 메일 수신 같은 트리거로 시작해서, 여러 컬럼을 한 번에 갱신하고, 사람 승인을 기다렸다가 다시 이어갑니다.</a:t>
            </a:r>
          </a:p>
          <a:p>
            <a:r>
              <a:rPr lang="ko-KR" dirty="0"/>
              <a:t>Copilot Studio는 묻고 답하는 곳입니다. 지식과 커넥터로 데이터를 조회하고, 요약과 적합도를 추론하고, 필요하면 대화 중에 사람에게 확인을 요청합니다.</a:t>
            </a:r>
          </a:p>
          <a:p>
            <a:r>
              <a:rPr lang="ko-KR" dirty="0"/>
              <a:t>한 줄로 기억하시면 됩니다 — 읽고 해석하면 에이전트, 상태를 바꾸면 흐름, 남겨야 하면 SharePoint. 이 경계는 Lab 3과 Lab 6에서 직접 확인하게 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2291C-8DAA-4DAF-A547-4FAD8C96CA4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68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오늘 하루를 관통하는 질문이 두 개 있습니다. 이 두 질문에 답할 수 있게 되는 것이 목표입니다.</a:t>
            </a:r>
          </a:p>
          <a:p>
            <a:r>
              <a:rPr lang="ko-KR" dirty="0"/>
              <a:t>첫 번째, 사람은 어디에 개입하는가. HITL은 자동화 중간에 사람의 검토·승인·결정을 끼워 넣는 설계 패턴입니다. 오늘 두 방식을 모두 만듭니다 — 흐름이 멈추고 기다리는 비동기 승인(Lab 5), 대화 중에 사람에게 묻는 대화형 확인(Lab 7).</a:t>
            </a:r>
          </a:p>
          <a:p>
            <a:r>
              <a:rPr lang="ko-KR" dirty="0"/>
              <a:t>두 번째, 커넥터인가 흐름인가. 조회와 추론은 커넥터와 지침만으로 상당 부분 해결됩니다. 반대로 여러 컬럼을 한 덩어리로 바꿔야 하는 작업, 즉 전부 성공 아니면 전부 취소여야 하는 트랜잭션은 흐름이 맡습니다.</a:t>
            </a:r>
          </a:p>
          <a:p>
            <a:r>
              <a:rPr lang="ko-KR" dirty="0"/>
              <a:t>Lab 3에서 '흐름 없이 어디까지 되는가'를 보고, Lab 6에서 '그래도 흐름이어야 하는 이유'를 직접 겪게 됩니다. 두 Lab을 붙여서 보시면 경계가 선명해집니다.</a:t>
            </a:r>
          </a:p>
          <a:p>
            <a:r>
              <a:rPr lang="ko-KR" dirty="0"/>
              <a:t>마지막으로 한 가지만 부탁드립니다. 오늘 목표는 기능 습득에서 끝나지 않습니다. 내 업무를 보며 '여기에도 적용할 수 있겠다'는 생각이 떠오르면, 그게 이 교육의 진짜 결과입니다.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이제 오늘 만들 시스템 이야기를 하겠습니다.</a:t>
            </a:r>
          </a:p>
          <a:p>
            <a:r>
              <a:rPr lang="ko-KR" dirty="0"/>
              <a:t>채용담당자의 하루 — 쏟아지는 지원 이메일을 일일이 열어서 확인하고, 엑셀에 이름·경력·연락처를 복붙하고, 면접 일정은 누락되고 중복됩니다.</a:t>
            </a:r>
          </a:p>
          <a:p>
            <a:r>
              <a:rPr lang="ko-KR" dirty="0"/>
              <a:t>익숙한 풍경이죠. 이게 오늘 우리가 자동화할 문제입니다.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오늘 이 시스템을 직접 만듭니다.</a:t>
            </a:r>
          </a:p>
          <a:p>
            <a:r>
              <a:rPr lang="ko-KR" dirty="0"/>
              <a:t>메일이 수신되면 적재 흐름이 SharePoint에 자동 저장합니다. 이어서 승인 흐름이 담당자에게 비동기로 승인을 요청합니다. 승인이 나면 에이전트가 지원자를 조회하고, 평가하고, 면접 질문을 만듭니다. 마지막으로 상태 트랜잭션 흐름이 전형단계를 갱신합니다.</a:t>
            </a:r>
          </a:p>
          <a:p>
            <a:r>
              <a:rPr lang="ko-KR" dirty="0"/>
              <a:t>메일 한 통이 이 파이프라인을 타고 자동으로 처리됩니다.</a:t>
            </a:r>
          </a:p>
          <a:p>
            <a:r>
              <a:rPr lang="ko-KR" dirty="0"/>
              <a:t>아래 범례를 보시면 — 흐름은 상태 변경과 트랜잭션을, 에이전트는 읽기와 추론을 담당합니다. 이게 오늘 강의의 설계 원칙입니다.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사람이 개입하는 방식 첫 번째입니다.</a:t>
            </a:r>
          </a:p>
          <a:p>
            <a:r>
              <a:rPr lang="ko-KR" dirty="0"/>
              <a:t>비동기 승인. 흐름이 실행되다가 승인이 필요한 지점에서 멈춥니다. Teams와 Outlook으로 알림이 가고, 담당자가 승인하면 흐름이 재개됩니다. 담당자가 자리에 없어도 됩니다. 비동기니까요.</a:t>
            </a:r>
          </a:p>
          <a:p>
            <a:r>
              <a:rPr lang="ko-KR" dirty="0"/>
              <a:t>SharePoint 내장 승인 기능을 활용합니다. Lab 5에서 직접 만듭니다.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두 번째 패턴입니다.</a:t>
            </a:r>
          </a:p>
          <a:p>
            <a:r>
              <a:rPr lang="ko-KR" dirty="0"/>
              <a:t>대화형 확인. 에이전트가 면접 질문을 만들거나 상태를 변경하려 할 때, 챗봇이 면접관에게 직접 "이렇게 진행해도 될까요?"라고 묻습니다. 면접관이 답하면 에이전트가 이어서 진행합니다.</a:t>
            </a:r>
          </a:p>
          <a:p>
            <a:r>
              <a:rPr lang="ko-KR" dirty="0"/>
              <a:t>흐름이 멈추는 게 아니라, 대화 중에 확인이 이루어집니다. Lab 7에서 만듭니다.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오늘 강의 전체를 관통하는 설계 원칙입니다.</a:t>
            </a:r>
          </a:p>
          <a:p>
            <a:r>
              <a:rPr lang="ko-KR" dirty="0"/>
              <a:t>읽기·조회·추론은 에이전트가, 상태 변경과 확정 트랜잭션은 흐름이, 결정과 승인은 사람이 맡습니다.</a:t>
            </a:r>
          </a:p>
          <a:p>
            <a:r>
              <a:rPr lang="ko-KR" dirty="0"/>
              <a:t>AI에게 일을 맡기되, 결정은 사람이 내린다.</a:t>
            </a:r>
          </a:p>
          <a:p>
            <a:r>
              <a:rPr lang="ko-KR" dirty="0"/>
              <a:t>이 원칙이 머릿속에 있으면 "왜 이렇게 설계했지?"라는 질문에 스스로 답할 수 있습니다. Lab마다 이 원칙이 어떻게 구현되는지 확인하면서 따라오시면 됩니다.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채용 프로세스 위에 오늘의 범위를 표시했습니다.</a:t>
            </a:r>
          </a:p>
          <a:p>
            <a:r>
              <a:rPr lang="ko-KR" dirty="0"/>
              <a:t>이력서 수집, AI 요약, 적합도 판단, 면접 질문 생성, 서류 합격 처리 — STEP 1~5를 오늘 직접 구현합니다.</a:t>
            </a:r>
          </a:p>
          <a:p>
            <a:r>
              <a:rPr lang="ko-KR" dirty="0"/>
              <a:t>면접 일정, 면접 합격, 최종 합격 — STEP 6~8은 오늘 만든 기반 위에 그대로 확장할 수 있습니다. 구조가 같기 때문에, 오늘 패턴을 익히면 나머지는 응용입니다.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오늘의 시나리오를 Before와 After로 비교해 보겠습니다.</a:t>
            </a:r>
          </a:p>
          <a:p>
            <a:r>
              <a:rPr lang="ko-KR" dirty="0"/>
              <a:t>Before. 이력서 42건이 메일 첨부로 흩어져 있고, 첨부를 열어 엑셀에 복사하고, 승인은 이메일로 수동 회신하고, 면접 확정은 채팅으로 따로 처리합니다. 그래서 중요한 지원자를 놓치는 일이 생깁니다.</a:t>
            </a:r>
          </a:p>
          <a:p>
            <a:r>
              <a:rPr lang="ko-KR" dirty="0"/>
              <a:t>After. 이메일이 도착하면 AI가 즉시 추출해 저장하고, 요약 품질은 Teams와 Outlook에서 확인하고, 승인된 지원자만 챗봇으로 조회되고, 면접관은 채팅에서 바로 상태를 변경합니다. 42건 전원이 데이터화되고 검색됩니다.</a:t>
            </a:r>
          </a:p>
          <a:p>
            <a:r>
              <a:rPr lang="ko-KR" dirty="0"/>
              <a:t>이력서 42건, Lab 7개로 이 시나리오를 직접 구현합니다.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Lab에 들어가기 전에, 오늘 계속 나올 말 여섯 개만 짚겠습니다. 이것만 알면 나머지는 문맥으로 따라옵니다.</a:t>
            </a:r>
          </a:p>
          <a:p>
            <a:r>
              <a:rPr lang="ko-KR" dirty="0"/>
              <a:t>목록은 SharePoint의 데이터 저장소입니다. 지원자 한 명이 한 행이고 이름·이메일·전형단계가 각각 컬럼입니다. 흐름과 에이전트가 공통으로 읽고 쓰는 단일 진실 원천입니다.</a:t>
            </a:r>
          </a:p>
          <a:p>
            <a:r>
              <a:rPr lang="ko-KR" dirty="0"/>
              <a:t>흐름은 트리거에서 시작해 액션이 순서대로 실행되는 자동화 단위입니다. 같은 입력이면 항상 같은 결과 — 결정적으로 동작한다는 게 핵심입니다.</a:t>
            </a:r>
          </a:p>
          <a:p>
            <a:r>
              <a:rPr lang="ko-KR" dirty="0"/>
              <a:t>커넥터는 에이전트나 흐름이 SharePoint, Outlook 같은 외부 시스템에 접근하는 연결 통로입니다. 에이전트의 도구로 등록하면 오케스트레이터가 필요할 때 알아서 호출합니다.</a:t>
            </a:r>
          </a:p>
          <a:p>
            <a:r>
              <a:rPr lang="ko-KR" dirty="0"/>
              <a:t>에이전트는 Copilot Studio로 만드는 대화 인터페이스입니다. 발화를 해석해 지식을 참조하거나 도구를 호출하고, 그 결과를 자연어로 답합니다.</a:t>
            </a:r>
          </a:p>
          <a:p>
            <a:r>
              <a:rPr lang="ko-KR" dirty="0"/>
              <a:t>지식은 답변의 근거가 되는 기준 문서입니다. 오늘은 채용 가이드·직무기술서·회사 지침·평가 루브릭 네 종을 등록합니다. 반대로 실시간으로 바뀌는 지원자 데이터는 지식이 아니라 커넥터로 접근합니다. 이 구분이 Lab 2에서 중요합니다.</a:t>
            </a:r>
          </a:p>
          <a:p>
            <a:r>
              <a:rPr lang="ko-KR" dirty="0"/>
              <a:t>토픽은 특정 발화가 인식되면 활성화되는 단위 시나리오입니다. 노드가 순서대로 실행되고, 여기에 확인 카드를 끼워 넣으면 대화형 HITL이 됩니다. Lab 7에서 만듭니다.</a:t>
            </a:r>
          </a:p>
          <a:p>
            <a:r>
              <a:rPr lang="ko-KR" dirty="0"/>
              <a:t>아래 두 개도 미리 기억해 주세요. HITL은 사람의 검토·승인·결정을 자동화 중간에 끼워 넣는 설계 패턴, 트랜잭션은 전부 성공 아니면 전부 취소여야 하는 작업 단위입니다.</a:t>
            </a:r>
          </a:p>
          <a:p>
            <a:r>
              <a:rPr lang="ko-KR" dirty="0"/>
              <a:t>낯선 말이 나오면 교안 부록 용어집을 보시면 됩니다. 그리고 오늘 쓰는 지원자 데이터는 전부 AI가 만든 가상 인물입니다. 실제 개인정보는 올리지 마세요.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Lab 구성입니다. 오전은 에이전트, 오후는 흐름입니다.</a:t>
            </a:r>
          </a:p>
          <a:p>
            <a:r>
              <a:rPr lang="ko-KR" dirty="0"/>
              <a:t>Lab 1에서 환경을 받습니다. 솔루션 가져오기, 리스트 생성, 42건 데이터 적재.</a:t>
            </a:r>
          </a:p>
          <a:p>
            <a:r>
              <a:rPr lang="ko-KR" dirty="0"/>
              <a:t>Lab 2에서 Copilot Studio 에이전트를 만들고 Knowledge 4종을 붙이고 지침을 넣습니다. Lab 3에서 그 에이전트를 실제로 사용해 봅니다 — 지원자 조회, 적합도 평가, 면접 질문 생성.</a:t>
            </a:r>
          </a:p>
          <a:p>
            <a:r>
              <a:rPr lang="ko-KR" dirty="0"/>
              <a:t>오후 Lab 4는 적재 흐름, Lab 5는 승인 흐름입니다. Lab 6과 7은 같은 '면접 확정'을 두 가지 방식으로 만듭니다. Lab 6은 흐름 기반 트랜잭션, Lab 7은 토픽과 적응형 카드로 대화형 HITL. 앞에서 말씀드린 두 패턴이 여기서 나옵니다.</a:t>
            </a:r>
          </a:p>
          <a:p>
            <a:r>
              <a:rPr lang="ko-KR" dirty="0"/>
              <a:t>시간이 남으면 보너스로 Power BI 채용 현황 대시보드까지 해보겠습니다.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오프닝</a:t>
            </a:r>
            <a:r>
              <a:rPr lang="ko-KR" dirty="0"/>
              <a:t>으로 실습이 아닌 시연 하나를 보여드리겠습니다. 5분 정도입니다.</a:t>
            </a:r>
          </a:p>
          <a:p>
            <a:r>
              <a:rPr lang="ko-KR" dirty="0"/>
              <a:t>외부 자료를 정기적으로 수집해서 AI가 요약하고, 뉴스레터 형태로 전달하는 시나리오입니다. 스케줄 트리거로 자동 반복됩니다.</a:t>
            </a:r>
          </a:p>
          <a:p>
            <a:r>
              <a:rPr lang="ko-KR" dirty="0"/>
              <a:t>이걸 왜 에이전트가 아니라 흐름으로 만들었는지가 오늘 배</a:t>
            </a:r>
            <a:r>
              <a:rPr lang="ko-KR" altLang="en-US" dirty="0"/>
              <a:t>울</a:t>
            </a:r>
            <a:r>
              <a:rPr lang="ko-KR" dirty="0"/>
              <a:t> </a:t>
            </a:r>
            <a:r>
              <a:rPr lang="ko-KR" altLang="en-US" dirty="0"/>
              <a:t>내용과</a:t>
            </a:r>
            <a:r>
              <a:rPr lang="ko-KR" dirty="0"/>
              <a:t> 그대로 연결됩니다. 정해진 시각에 정해진 순서로 도는 일은 흐름입니다. 대화하면서 판단이 필요할 때 에이전트를 씁니다. 조회와 요약은 커넥터와 지침으로 충분합니다.</a:t>
            </a:r>
          </a:p>
          <a:p>
            <a:r>
              <a:rPr lang="ko-KR" dirty="0"/>
              <a:t>이 시나리오는 활용도가 높지만 구현 축이 흐름에 가깝습니다. 그래서 이번 과정에서는 시연으로 소개하고, 직접 구축이 필요하시면 별도 세션으로 </a:t>
            </a:r>
            <a:r>
              <a:rPr lang="ko-KR" dirty="0" err="1"/>
              <a:t>논의드리겠습니다</a:t>
            </a:r>
            <a:r>
              <a:rPr lang="ko-KR" dirty="0"/>
              <a:t>.</a:t>
            </a:r>
            <a:r>
              <a:rPr lang="en-US" altLang="ko-KR"/>
              <a:t> </a:t>
            </a:r>
            <a:r>
              <a:rPr lang="ko-KR"/>
              <a:t>그럼 </a:t>
            </a:r>
            <a:r>
              <a:rPr lang="ko-KR" dirty="0"/>
              <a:t>화면 보시겠습니다.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그럼 시작하겠습니다.</a:t>
            </a:r>
          </a:p>
          <a:p>
            <a:r>
              <a:rPr lang="ko-KR" dirty="0"/>
              <a:t>오늘 배운 설계 원칙을 가지고 채용 자동화 시스템을 직접 만들어보겠습니다. Lab 1부터 갑니다.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E6C363C-7ACD-3D5D-5962-1B88D59B42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LeftScrim">
            <a:extLst>
              <a:ext uri="{FF2B5EF4-FFF2-40B4-BE49-F238E27FC236}">
                <a16:creationId xmlns:a16="http://schemas.microsoft.com/office/drawing/2014/main" id="{7CFCA698-6E97-4C45-B4EB-D9001C08252A}"/>
              </a:ext>
            </a:extLst>
          </p:cNvPr>
          <p:cNvSpPr/>
          <p:nvPr/>
        </p:nvSpPr>
        <p:spPr>
          <a:xfrm>
            <a:off x="0" y="0"/>
            <a:ext cx="7112000" cy="6858000"/>
          </a:xfrm>
          <a:prstGeom prst="rect">
            <a:avLst/>
          </a:prstGeom>
          <a:solidFill>
            <a:srgbClr val="0F1535">
              <a:alpha val="7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19F121-5805-4431-A6E7-86C29EB6468B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DF02CA-320F-44D1-BB0B-BA71406DBEA9}"/>
              </a:ext>
            </a:extLst>
          </p:cNvPr>
          <p:cNvSpPr/>
          <p:nvPr/>
        </p:nvSpPr>
        <p:spPr>
          <a:xfrm>
            <a:off x="7874000" y="1066800"/>
            <a:ext cx="3810000" cy="381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3979A-3B01-428B-9301-73AAC1415197}"/>
              </a:ext>
            </a:extLst>
          </p:cNvPr>
          <p:cNvSpPr txBox="1"/>
          <p:nvPr/>
        </p:nvSpPr>
        <p:spPr>
          <a:xfrm>
            <a:off x="1016000" y="1905000"/>
            <a:ext cx="8128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  <a:ea typeface="Pretendard"/>
                <a:cs typeface="Pretendard"/>
              </a:rPr>
              <a:t>INTERNAL HANDS-ON TRAINING</a:t>
            </a:r>
            <a:endParaRPr lang="ko-KR" altLang="en-US" sz="1300" b="1">
              <a:solidFill>
                <a:srgbClr val="06D6A0"/>
              </a:solidFill>
              <a:latin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994B9-4D0F-4BC5-82D5-9E791E2F6239}"/>
              </a:ext>
            </a:extLst>
          </p:cNvPr>
          <p:cNvSpPr txBox="1"/>
          <p:nvPr/>
        </p:nvSpPr>
        <p:spPr>
          <a:xfrm>
            <a:off x="1016000" y="2387600"/>
            <a:ext cx="101600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5200" b="1" dirty="0">
                <a:solidFill>
                  <a:srgbClr val="FFFFFF"/>
                </a:solidFill>
                <a:latin typeface="Gmarket Sans"/>
                <a:ea typeface="Gmarket Sans"/>
                <a:cs typeface="Gmarket Sans"/>
              </a:rPr>
              <a:t>Agent </a:t>
            </a:r>
            <a:r>
              <a:rPr lang="ko-KR" altLang="en-US" sz="5200" b="1" dirty="0">
                <a:solidFill>
                  <a:srgbClr val="FFFFFF"/>
                </a:solidFill>
                <a:latin typeface="Gmarket Sans"/>
                <a:cs typeface="Gmarket Sans"/>
              </a:rPr>
              <a:t>중급 </a:t>
            </a:r>
            <a:r>
              <a:rPr lang="ko-KR" altLang="en-US" sz="5200" b="1" dirty="0" err="1">
                <a:solidFill>
                  <a:srgbClr val="FFFFFF"/>
                </a:solidFill>
                <a:latin typeface="Gmarket Sans"/>
                <a:cs typeface="Gmarket Sans"/>
              </a:rPr>
              <a:t>핸즈온</a:t>
            </a:r>
            <a:endParaRPr lang="ko-KR" altLang="en-US" sz="5200" b="1" dirty="0">
              <a:solidFill>
                <a:srgbClr val="FFFFFF"/>
              </a:solidFill>
              <a:latin typeface="Gmarket Sans"/>
              <a:cs typeface="Gmarket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6AC27-4DEC-433B-85E5-F1C042B37C81}"/>
              </a:ext>
            </a:extLst>
          </p:cNvPr>
          <p:cNvSpPr txBox="1"/>
          <p:nvPr/>
        </p:nvSpPr>
        <p:spPr>
          <a:xfrm>
            <a:off x="1016000" y="3302000"/>
            <a:ext cx="101600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5200" b="1" dirty="0">
                <a:solidFill>
                  <a:srgbClr val="FFFFFF"/>
                </a:solidFill>
                <a:latin typeface="Gmarket Sans"/>
                <a:ea typeface="Gmarket Sans"/>
                <a:cs typeface="Gmarket Sans"/>
              </a:rPr>
              <a:t>w/ Power Automation</a:t>
            </a:r>
            <a:endParaRPr lang="ko-KR" altLang="en-US" sz="5200" b="1" dirty="0">
              <a:solidFill>
                <a:srgbClr val="FFFFFF"/>
              </a:solidFill>
              <a:latin typeface="Gmarket Sans"/>
              <a:cs typeface="Gmarket San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874298-E44B-486A-ACCB-933C3E109344}"/>
              </a:ext>
            </a:extLst>
          </p:cNvPr>
          <p:cNvSpPr/>
          <p:nvPr/>
        </p:nvSpPr>
        <p:spPr>
          <a:xfrm>
            <a:off x="1041400" y="4470400"/>
            <a:ext cx="3810000" cy="254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95E10B7-7C34-37C2-9862-C5B632DB9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6134100"/>
            <a:ext cx="12954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5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A07106-9628-445B-BC2C-69CE46005790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4DE28-2FED-4C37-8E27-BBF11B621938}"/>
              </a:ext>
            </a:extLst>
          </p:cNvPr>
          <p:cNvSpPr txBox="1"/>
          <p:nvPr/>
        </p:nvSpPr>
        <p:spPr>
          <a:xfrm>
            <a:off x="1016000" y="7366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TODAY'S PROMISE</a:t>
            </a:r>
            <a:endParaRPr lang="ko-KR" altLang="en-US" sz="1300" b="1">
              <a:solidFill>
                <a:srgbClr val="06D6A0"/>
              </a:solidFill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2A69A-5034-47D1-A2EA-1A444DC4D633}"/>
              </a:ext>
            </a:extLst>
          </p:cNvPr>
          <p:cNvSpPr txBox="1"/>
          <p:nvPr/>
        </p:nvSpPr>
        <p:spPr>
          <a:xfrm>
            <a:off x="1016000" y="1066800"/>
            <a:ext cx="10414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2800" b="1">
                <a:solidFill>
                  <a:srgbClr val="FFFFFF"/>
                </a:solidFill>
                <a:latin typeface="Calibri"/>
                <a:cs typeface="Calibri"/>
              </a:rPr>
              <a:t>오늘 당신이 가져갈 것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3B24636-C316-4529-939D-81D3106AA56F}"/>
              </a:ext>
            </a:extLst>
          </p:cNvPr>
          <p:cNvSpPr/>
          <p:nvPr/>
        </p:nvSpPr>
        <p:spPr>
          <a:xfrm>
            <a:off x="1016000" y="1905000"/>
            <a:ext cx="1498600" cy="1168400"/>
          </a:xfrm>
          <a:prstGeom prst="roundRect">
            <a:avLst/>
          </a:prstGeom>
          <a:solidFill>
            <a:srgbClr val="243B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Calibri"/>
                <a:cs typeface="Calibri"/>
              </a:rPr>
              <a:t>메일
수신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9F530FC-66E6-42F7-BF2E-A64A87913EDC}"/>
              </a:ext>
            </a:extLst>
          </p:cNvPr>
          <p:cNvSpPr/>
          <p:nvPr/>
        </p:nvSpPr>
        <p:spPr>
          <a:xfrm>
            <a:off x="2748280" y="1905000"/>
            <a:ext cx="1498600" cy="1168400"/>
          </a:xfrm>
          <a:prstGeom prst="roundRect">
            <a:avLst/>
          </a:prstGeom>
          <a:solidFill>
            <a:srgbClr val="1B4F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</a:t>
            </a:r>
            <a:r>
              <a:rPr lang="ko-KR" altLang="en-US" sz="1300" b="1">
                <a:solidFill>
                  <a:srgbClr val="FFFFFF"/>
                </a:solidFill>
                <a:latin typeface="Calibri"/>
                <a:cs typeface="Calibri"/>
              </a:rPr>
              <a:t>추출
</a:t>
            </a:r>
            <a:r>
              <a:rPr lang="en-US" altLang="ko-KR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ko-KR" altLang="en-US" sz="1300" b="1">
                <a:solidFill>
                  <a:srgbClr val="FFFFFF"/>
                </a:solidFill>
                <a:latin typeface="Calibri"/>
                <a:cs typeface="Calibri"/>
              </a:rPr>
              <a:t>지원자</a:t>
            </a:r>
            <a:r>
              <a:rPr lang="en-US" altLang="ko-KR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  <a:endParaRPr lang="ko-KR" altLang="en-US" sz="13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B79ADD8-BA13-4DF1-AB9B-361650F36B28}"/>
              </a:ext>
            </a:extLst>
          </p:cNvPr>
          <p:cNvSpPr/>
          <p:nvPr/>
        </p:nvSpPr>
        <p:spPr>
          <a:xfrm>
            <a:off x="4480560" y="1905000"/>
            <a:ext cx="1498600" cy="1168400"/>
          </a:xfrm>
          <a:prstGeom prst="roundRect">
            <a:avLst/>
          </a:prstGeom>
          <a:solidFill>
            <a:srgbClr val="0D7A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SharePoint
</a:t>
            </a:r>
            <a:r>
              <a:rPr lang="ko-KR" altLang="en-US" sz="1300" b="1">
                <a:solidFill>
                  <a:srgbClr val="FFFFFF"/>
                </a:solidFill>
                <a:latin typeface="Calibri"/>
                <a:cs typeface="Calibri"/>
              </a:rPr>
              <a:t>적재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AA5818A-2465-46E2-97D0-D9C1819AF778}"/>
              </a:ext>
            </a:extLst>
          </p:cNvPr>
          <p:cNvSpPr/>
          <p:nvPr/>
        </p:nvSpPr>
        <p:spPr>
          <a:xfrm>
            <a:off x="6212840" y="1905000"/>
            <a:ext cx="1498600" cy="1168400"/>
          </a:xfrm>
          <a:prstGeom prst="roundRect">
            <a:avLst/>
          </a:prstGeom>
          <a:solidFill>
            <a:srgbClr val="B83C1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Calibri"/>
                <a:cs typeface="Calibri"/>
              </a:rPr>
              <a:t>승인 흐름
</a:t>
            </a:r>
            <a:r>
              <a:rPr lang="en-US" altLang="ko-KR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(HITL)</a:t>
            </a:r>
            <a:endParaRPr lang="ko-KR" altLang="en-US" sz="13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FC603BB-3D04-47BB-AE61-CE922A1BE691}"/>
              </a:ext>
            </a:extLst>
          </p:cNvPr>
          <p:cNvSpPr/>
          <p:nvPr/>
        </p:nvSpPr>
        <p:spPr>
          <a:xfrm>
            <a:off x="7945120" y="1905000"/>
            <a:ext cx="1498600" cy="1168400"/>
          </a:xfrm>
          <a:prstGeom prst="round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Calibri"/>
                <a:cs typeface="Calibri"/>
              </a:rPr>
              <a:t>에이전트
평가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8C32F34-C383-49DF-86E9-80FAA399D605}"/>
              </a:ext>
            </a:extLst>
          </p:cNvPr>
          <p:cNvSpPr/>
          <p:nvPr/>
        </p:nvSpPr>
        <p:spPr>
          <a:xfrm>
            <a:off x="9677400" y="1905000"/>
            <a:ext cx="1498600" cy="1168400"/>
          </a:xfrm>
          <a:prstGeom prst="roundRect">
            <a:avLst/>
          </a:prstGeom>
          <a:solidFill>
            <a:srgbClr val="7B2FB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Teams
</a:t>
            </a:r>
            <a:r>
              <a:rPr lang="ko-KR" altLang="en-US" sz="1300" b="1">
                <a:solidFill>
                  <a:srgbClr val="FFFFFF"/>
                </a:solidFill>
                <a:latin typeface="Calibri"/>
                <a:cs typeface="Calibri"/>
              </a:rPr>
              <a:t>알림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DFC425-BD2A-4221-9112-48FAFC2218B3}"/>
              </a:ext>
            </a:extLst>
          </p:cNvPr>
          <p:cNvSpPr txBox="1"/>
          <p:nvPr/>
        </p:nvSpPr>
        <p:spPr>
          <a:xfrm>
            <a:off x="1016000" y="3200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300">
                <a:solidFill>
                  <a:srgbClr val="06D6A0"/>
                </a:solidFill>
                <a:latin typeface="Calibri"/>
                <a:cs typeface="Calibri"/>
              </a:rPr>
              <a:t>오늘 직접 만드는 시스템 </a:t>
            </a:r>
            <a:r>
              <a:rPr lang="en-US" altLang="ko-KR" sz="1300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ko-KR" altLang="en-US" sz="1300">
                <a:solidFill>
                  <a:srgbClr val="06D6A0"/>
                </a:solidFill>
                <a:latin typeface="Calibri"/>
                <a:cs typeface="Calibri"/>
              </a:rPr>
              <a:t>메일 한 통이 채용 트랜잭션으로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9C484-3A1C-43F8-9847-B2208787B0FB}"/>
              </a:ext>
            </a:extLst>
          </p:cNvPr>
          <p:cNvSpPr/>
          <p:nvPr/>
        </p:nvSpPr>
        <p:spPr>
          <a:xfrm>
            <a:off x="1016000" y="3632200"/>
            <a:ext cx="10160000" cy="254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0D62CAD-87B3-43B3-9428-159BD6CC8AED}"/>
              </a:ext>
            </a:extLst>
          </p:cNvPr>
          <p:cNvSpPr/>
          <p:nvPr/>
        </p:nvSpPr>
        <p:spPr>
          <a:xfrm>
            <a:off x="1041400" y="4147012"/>
            <a:ext cx="355600" cy="3556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0F1535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CAB447-6056-4C92-8BF7-6C80B3314B60}"/>
              </a:ext>
            </a:extLst>
          </p:cNvPr>
          <p:cNvSpPr txBox="1"/>
          <p:nvPr/>
        </p:nvSpPr>
        <p:spPr>
          <a:xfrm>
            <a:off x="1574800" y="39624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이메일→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SharePoint→Teams 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채용 자동화 파이프라인 직접 빌드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9339D42-BB4B-4C03-8AD2-5C22422C3C67}"/>
              </a:ext>
            </a:extLst>
          </p:cNvPr>
          <p:cNvSpPr/>
          <p:nvPr/>
        </p:nvSpPr>
        <p:spPr>
          <a:xfrm>
            <a:off x="6350000" y="4147012"/>
            <a:ext cx="355600" cy="3556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0F1535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1C6F56-B367-42F7-B5DE-62F98C91F864}"/>
              </a:ext>
            </a:extLst>
          </p:cNvPr>
          <p:cNvSpPr txBox="1"/>
          <p:nvPr/>
        </p:nvSpPr>
        <p:spPr>
          <a:xfrm>
            <a:off x="6883400" y="3962400"/>
            <a:ext cx="43180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비동기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승인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 + 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대화형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에이전트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 HITL 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두 패턴 체득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7D06230-8A43-4FC0-A652-BC74634BBA69}"/>
              </a:ext>
            </a:extLst>
          </p:cNvPr>
          <p:cNvSpPr/>
          <p:nvPr/>
        </p:nvSpPr>
        <p:spPr>
          <a:xfrm>
            <a:off x="1041400" y="5366212"/>
            <a:ext cx="355600" cy="3556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0F1535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7D850-060C-4E41-B1F4-53E7C910434E}"/>
              </a:ext>
            </a:extLst>
          </p:cNvPr>
          <p:cNvSpPr txBox="1"/>
          <p:nvPr/>
        </p:nvSpPr>
        <p:spPr>
          <a:xfrm>
            <a:off x="1574800" y="51816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읽기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추론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=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에이전트 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 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상태변경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=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흐름</a:t>
            </a:r>
            <a:r>
              <a:rPr lang="en-US" altLang="ko-KR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 </a:t>
            </a:r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설계 원칙 내재화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8BC132B-846D-4BF7-94AC-471D828D66D4}"/>
              </a:ext>
            </a:extLst>
          </p:cNvPr>
          <p:cNvSpPr/>
          <p:nvPr/>
        </p:nvSpPr>
        <p:spPr>
          <a:xfrm>
            <a:off x="6350000" y="5366212"/>
            <a:ext cx="355600" cy="3556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0F1535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427B24-9F41-4FB3-9065-9CBB6A992474}"/>
              </a:ext>
            </a:extLst>
          </p:cNvPr>
          <p:cNvSpPr txBox="1"/>
          <p:nvPr/>
        </p:nvSpPr>
        <p:spPr>
          <a:xfrm>
            <a:off x="6883400" y="5388317"/>
            <a:ext cx="4318000" cy="3231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Calibri"/>
                <a:cs typeface="Calibri"/>
              </a:rPr>
              <a:t>AI 에이전트 오케스트레이션 설계 역량</a:t>
            </a:r>
          </a:p>
        </p:txBody>
      </p:sp>
    </p:spTree>
    <p:extLst>
      <p:ext uri="{BB962C8B-B14F-4D97-AF65-F5344CB8AC3E}">
        <p14:creationId xmlns:p14="http://schemas.microsoft.com/office/powerpoint/2010/main" val="134039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7A324F5-F91D-43A0-8838-3711303B1B98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B480B-8D25-455B-8385-622D735B59A9}"/>
              </a:ext>
            </a:extLst>
          </p:cNvPr>
          <p:cNvSpPr txBox="1"/>
          <p:nvPr/>
        </p:nvSpPr>
        <p:spPr>
          <a:xfrm>
            <a:off x="1016000" y="533400"/>
            <a:ext cx="76200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 dirty="0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POWER PLATFORM</a:t>
            </a:r>
            <a:endParaRPr lang="ko-KR" altLang="en-US" sz="1300" b="1" dirty="0">
              <a:solidFill>
                <a:srgbClr val="06D6A0"/>
              </a:solidFill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976CD4-A5D2-420A-9AFA-56AF36E1ECEC}"/>
              </a:ext>
            </a:extLst>
          </p:cNvPr>
          <p:cNvSpPr txBox="1"/>
          <p:nvPr/>
        </p:nvSpPr>
        <p:spPr>
          <a:xfrm>
            <a:off x="1016000" y="8382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Platform 5</a:t>
            </a:r>
            <a:r>
              <a:rPr lang="ko-KR" altLang="en-US" sz="2800" b="1">
                <a:solidFill>
                  <a:srgbClr val="FFFFFF"/>
                </a:solidFill>
                <a:latin typeface="Calibri"/>
                <a:cs typeface="Calibri"/>
              </a:rPr>
              <a:t>대 구성요소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4506961-0E1E-4747-976D-F3C94CC11378}"/>
              </a:ext>
            </a:extLst>
          </p:cNvPr>
          <p:cNvSpPr/>
          <p:nvPr/>
        </p:nvSpPr>
        <p:spPr>
          <a:xfrm>
            <a:off x="1016000" y="2260600"/>
            <a:ext cx="1841500" cy="2692400"/>
          </a:xfrm>
          <a:prstGeom prst="roundRect">
            <a:avLst/>
          </a:prstGeom>
          <a:solidFill>
            <a:srgbClr val="162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1C2E82-2E89-4D7B-BD6A-F4C61A5993B9}"/>
              </a:ext>
            </a:extLst>
          </p:cNvPr>
          <p:cNvSpPr txBox="1"/>
          <p:nvPr/>
        </p:nvSpPr>
        <p:spPr>
          <a:xfrm>
            <a:off x="1092200" y="3810000"/>
            <a:ext cx="16891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Apps</a:t>
            </a:r>
            <a:endParaRPr lang="ko-KR" altLang="en-US" sz="16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045D8C6-BF59-4C1B-8424-984E917A87DF}"/>
              </a:ext>
            </a:extLst>
          </p:cNvPr>
          <p:cNvSpPr/>
          <p:nvPr/>
        </p:nvSpPr>
        <p:spPr>
          <a:xfrm>
            <a:off x="3086100" y="2260600"/>
            <a:ext cx="1841500" cy="2692400"/>
          </a:xfrm>
          <a:prstGeom prst="roundRect">
            <a:avLst/>
          </a:prstGeom>
          <a:solidFill>
            <a:srgbClr val="162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CD96D-043D-43CC-BD9E-9931D31D7111}"/>
              </a:ext>
            </a:extLst>
          </p:cNvPr>
          <p:cNvSpPr txBox="1"/>
          <p:nvPr/>
        </p:nvSpPr>
        <p:spPr>
          <a:xfrm>
            <a:off x="3162300" y="3810000"/>
            <a:ext cx="16891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Automate</a:t>
            </a:r>
            <a:endParaRPr lang="ko-KR" altLang="en-US" sz="16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5B2BFE7-7AC1-481B-83E6-0120671371FF}"/>
              </a:ext>
            </a:extLst>
          </p:cNvPr>
          <p:cNvSpPr/>
          <p:nvPr/>
        </p:nvSpPr>
        <p:spPr>
          <a:xfrm>
            <a:off x="5156200" y="2260600"/>
            <a:ext cx="1841500" cy="2692400"/>
          </a:xfrm>
          <a:prstGeom prst="roundRect">
            <a:avLst/>
          </a:prstGeom>
          <a:solidFill>
            <a:srgbClr val="162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F4775-42B6-45A8-A136-1EBE74E2DC17}"/>
              </a:ext>
            </a:extLst>
          </p:cNvPr>
          <p:cNvSpPr txBox="1"/>
          <p:nvPr/>
        </p:nvSpPr>
        <p:spPr>
          <a:xfrm>
            <a:off x="5232400" y="3810000"/>
            <a:ext cx="16891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BI</a:t>
            </a:r>
            <a:endParaRPr lang="ko-KR" altLang="en-US" sz="16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F1C680-CBC6-4D1D-9052-0986137D6961}"/>
              </a:ext>
            </a:extLst>
          </p:cNvPr>
          <p:cNvSpPr/>
          <p:nvPr/>
        </p:nvSpPr>
        <p:spPr>
          <a:xfrm>
            <a:off x="7226300" y="2260600"/>
            <a:ext cx="1841500" cy="2692400"/>
          </a:xfrm>
          <a:prstGeom prst="roundRect">
            <a:avLst/>
          </a:prstGeom>
          <a:solidFill>
            <a:srgbClr val="162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A48A49-D339-4E22-BF22-A381D97DC9D8}"/>
              </a:ext>
            </a:extLst>
          </p:cNvPr>
          <p:cNvSpPr txBox="1"/>
          <p:nvPr/>
        </p:nvSpPr>
        <p:spPr>
          <a:xfrm>
            <a:off x="7302500" y="3810000"/>
            <a:ext cx="16891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Pages</a:t>
            </a:r>
            <a:endParaRPr lang="ko-KR" altLang="en-US" sz="16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7DF4239-5C85-41E5-A6B0-85D2CEC14A84}"/>
              </a:ext>
            </a:extLst>
          </p:cNvPr>
          <p:cNvSpPr/>
          <p:nvPr/>
        </p:nvSpPr>
        <p:spPr>
          <a:xfrm>
            <a:off x="9296400" y="2260600"/>
            <a:ext cx="1841500" cy="2692400"/>
          </a:xfrm>
          <a:prstGeom prst="roundRect">
            <a:avLst/>
          </a:prstGeom>
          <a:solidFill>
            <a:srgbClr val="102B4A"/>
          </a:solidFill>
          <a:ln w="317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25B58-8B24-4613-A140-35F152A5E18B}"/>
              </a:ext>
            </a:extLst>
          </p:cNvPr>
          <p:cNvSpPr txBox="1"/>
          <p:nvPr/>
        </p:nvSpPr>
        <p:spPr>
          <a:xfrm>
            <a:off x="9372600" y="3810000"/>
            <a:ext cx="16891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Copilot Studio</a:t>
            </a:r>
            <a:endParaRPr lang="ko-KR" altLang="en-US" sz="16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C45761-8E9E-4B16-9565-3C2E0A44854D}"/>
              </a:ext>
            </a:extLst>
          </p:cNvPr>
          <p:cNvSpPr txBox="1"/>
          <p:nvPr/>
        </p:nvSpPr>
        <p:spPr>
          <a:xfrm>
            <a:off x="9372600" y="2438400"/>
            <a:ext cx="16891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 b="1">
                <a:solidFill>
                  <a:srgbClr val="06D6A0"/>
                </a:solidFill>
                <a:latin typeface="Calibri"/>
                <a:cs typeface="Calibri"/>
              </a:rPr>
              <a:t>오늘 배웁니다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73AA95-CBFD-41E5-B9E5-18BFCDE33E53}"/>
              </a:ext>
            </a:extLst>
          </p:cNvPr>
          <p:cNvSpPr txBox="1"/>
          <p:nvPr/>
        </p:nvSpPr>
        <p:spPr>
          <a:xfrm>
            <a:off x="1016000" y="5207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>
                <a:solidFill>
                  <a:srgbClr val="6B7BA4"/>
                </a:solidFill>
                <a:latin typeface="Calibri"/>
                <a:ea typeface="Calibri"/>
                <a:cs typeface="Calibri"/>
              </a:rPr>
              <a:t>Microsoft </a:t>
            </a:r>
            <a:r>
              <a:rPr lang="ko-KR" altLang="en-US" sz="1400">
                <a:solidFill>
                  <a:srgbClr val="6B7BA4"/>
                </a:solidFill>
                <a:latin typeface="Calibri"/>
                <a:cs typeface="Calibri"/>
              </a:rPr>
              <a:t>로우코드 비즈니스 애플리케이션 플랫폼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E5286EC-BDEE-E9D6-F976-1AFEB467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2692400"/>
            <a:ext cx="762000" cy="72013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C888689-978E-AC2B-D1ED-EAE816531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00" y="2692400"/>
            <a:ext cx="762000" cy="74428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E9361E2-A35B-14F8-B1F1-510663B92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300" y="2692400"/>
            <a:ext cx="762000" cy="77993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12D9285-16AA-CC2E-01B8-316F3EE80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692400"/>
            <a:ext cx="762000" cy="66745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1B8B977-31BE-1A2A-C84C-6862BF2EE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2500" y="26924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2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B28E78-242A-432F-A1AE-55C7A9EA22C3}"/>
              </a:ext>
            </a:extLst>
          </p:cNvPr>
          <p:cNvSpPr/>
          <p:nvPr/>
        </p:nvSpPr>
        <p:spPr>
          <a:xfrm rot="-5400000">
            <a:off x="5207000" y="3101975"/>
            <a:ext cx="1778000" cy="19050"/>
          </a:xfrm>
          <a:prstGeom prst="rect">
            <a:avLst/>
          </a:prstGeom>
          <a:solidFill>
            <a:srgbClr val="4D5F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5F22A2-0A94-41FF-9A4D-368BDEC20B1D}"/>
              </a:ext>
            </a:extLst>
          </p:cNvPr>
          <p:cNvSpPr/>
          <p:nvPr/>
        </p:nvSpPr>
        <p:spPr>
          <a:xfrm rot="-1240207">
            <a:off x="5999885" y="3463925"/>
            <a:ext cx="2986228" cy="19050"/>
          </a:xfrm>
          <a:prstGeom prst="rect">
            <a:avLst/>
          </a:prstGeom>
          <a:solidFill>
            <a:srgbClr val="4D5F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2261D6-D38C-47A7-B55B-F725D4394CE7}"/>
              </a:ext>
            </a:extLst>
          </p:cNvPr>
          <p:cNvSpPr/>
          <p:nvPr/>
        </p:nvSpPr>
        <p:spPr>
          <a:xfrm rot="1294593">
            <a:off x="5990731" y="4543425"/>
            <a:ext cx="3004536" cy="19050"/>
          </a:xfrm>
          <a:prstGeom prst="rect">
            <a:avLst/>
          </a:prstGeom>
          <a:solidFill>
            <a:srgbClr val="4D5F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3F189-D7CC-4351-BB00-7FC0589F9BAA}"/>
              </a:ext>
            </a:extLst>
          </p:cNvPr>
          <p:cNvSpPr/>
          <p:nvPr/>
        </p:nvSpPr>
        <p:spPr>
          <a:xfrm rot="5400000">
            <a:off x="5207000" y="4879975"/>
            <a:ext cx="1778000" cy="19050"/>
          </a:xfrm>
          <a:prstGeom prst="rect">
            <a:avLst/>
          </a:prstGeom>
          <a:solidFill>
            <a:srgbClr val="4D5F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2721A9-79B3-42A7-A627-2B62667BC1EC}"/>
              </a:ext>
            </a:extLst>
          </p:cNvPr>
          <p:cNvSpPr/>
          <p:nvPr/>
        </p:nvSpPr>
        <p:spPr>
          <a:xfrm rot="9505407">
            <a:off x="3196731" y="4543425"/>
            <a:ext cx="3004536" cy="19050"/>
          </a:xfrm>
          <a:prstGeom prst="rect">
            <a:avLst/>
          </a:prstGeom>
          <a:solidFill>
            <a:srgbClr val="4D5F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72B8CB-0B5D-4E1F-8518-44ECC0C7A4D4}"/>
              </a:ext>
            </a:extLst>
          </p:cNvPr>
          <p:cNvSpPr/>
          <p:nvPr/>
        </p:nvSpPr>
        <p:spPr>
          <a:xfrm rot="-9559793">
            <a:off x="3205885" y="3463925"/>
            <a:ext cx="2986228" cy="19050"/>
          </a:xfrm>
          <a:prstGeom prst="rect">
            <a:avLst/>
          </a:prstGeom>
          <a:solidFill>
            <a:srgbClr val="4D5F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51BD8-EAD2-418B-B1DD-698D1C5C40CB}"/>
              </a:ext>
            </a:extLst>
          </p:cNvPr>
          <p:cNvSpPr txBox="1"/>
          <p:nvPr/>
        </p:nvSpPr>
        <p:spPr>
          <a:xfrm>
            <a:off x="10160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POWER PLATFORM</a:t>
            </a:r>
            <a:endParaRPr lang="ko-KR" altLang="en-US" sz="13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35BCD-6530-4053-B3A0-3AD5918330FB}"/>
              </a:ext>
            </a:extLst>
          </p:cNvPr>
          <p:cNvSpPr txBox="1"/>
          <p:nvPr/>
        </p:nvSpPr>
        <p:spPr>
          <a:xfrm>
            <a:off x="1016000" y="8128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2800" b="1">
                <a:solidFill>
                  <a:srgbClr val="FFFFFF"/>
                </a:solidFill>
                <a:latin typeface="Pretendard"/>
              </a:rPr>
              <a:t>데이터 </a:t>
            </a:r>
            <a:r>
              <a:rPr lang="en-US" altLang="ko-KR" sz="28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2800" b="1">
                <a:solidFill>
                  <a:srgbClr val="FFFFFF"/>
                </a:solidFill>
                <a:latin typeface="Pretendard"/>
              </a:rPr>
              <a:t>사람 </a:t>
            </a:r>
            <a:r>
              <a:rPr lang="en-US" altLang="ko-KR" sz="28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2800" b="1">
                <a:solidFill>
                  <a:srgbClr val="FFFFFF"/>
                </a:solidFill>
                <a:latin typeface="Pretendard"/>
              </a:rPr>
              <a:t>시스템을 연결하는 접착제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FF1F728-8B98-43C6-B863-F081759AE8D8}"/>
              </a:ext>
            </a:extLst>
          </p:cNvPr>
          <p:cNvSpPr/>
          <p:nvPr/>
        </p:nvSpPr>
        <p:spPr>
          <a:xfrm>
            <a:off x="5016500" y="3619500"/>
            <a:ext cx="2159000" cy="762000"/>
          </a:xfrm>
          <a:prstGeom prst="roundRect">
            <a:avLst/>
          </a:prstGeom>
          <a:solidFill>
            <a:srgbClr val="4361EE"/>
          </a:solidFill>
          <a:ln w="2540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Power Platform</a:t>
            </a:r>
            <a:endParaRPr lang="ko-KR" altLang="en-US" sz="16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C907BBC-C48F-4186-A6BA-454862483891}"/>
              </a:ext>
            </a:extLst>
          </p:cNvPr>
          <p:cNvSpPr/>
          <p:nvPr/>
        </p:nvSpPr>
        <p:spPr>
          <a:xfrm>
            <a:off x="5016500" y="1765300"/>
            <a:ext cx="2159000" cy="914400"/>
          </a:xfrm>
          <a:prstGeom prst="roundRect">
            <a:avLst/>
          </a:prstGeom>
          <a:solidFill>
            <a:srgbClr val="1B4F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DC2C6-47D7-4BF0-ACD1-0D63AD8F1536}"/>
              </a:ext>
            </a:extLst>
          </p:cNvPr>
          <p:cNvSpPr txBox="1"/>
          <p:nvPr/>
        </p:nvSpPr>
        <p:spPr>
          <a:xfrm>
            <a:off x="5092700" y="1879600"/>
            <a:ext cx="20066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Microsoft 365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8185A-5620-42CE-A76D-E24DB17F3A8E}"/>
              </a:ext>
            </a:extLst>
          </p:cNvPr>
          <p:cNvSpPr txBox="1"/>
          <p:nvPr/>
        </p:nvSpPr>
        <p:spPr>
          <a:xfrm>
            <a:off x="5118100" y="2184400"/>
            <a:ext cx="19558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000">
                <a:solidFill>
                  <a:srgbClr val="A8B2D8"/>
                </a:solidFill>
                <a:latin typeface="Pretendard"/>
              </a:rPr>
              <a:t>Teams · SharePoint · Outlook · Office</a:t>
            </a:r>
            <a:endParaRPr lang="ko-KR" altLang="en-US" sz="10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C10BC9F-3087-40BB-8A24-8851CA0314CC}"/>
              </a:ext>
            </a:extLst>
          </p:cNvPr>
          <p:cNvSpPr/>
          <p:nvPr/>
        </p:nvSpPr>
        <p:spPr>
          <a:xfrm>
            <a:off x="7810500" y="2489200"/>
            <a:ext cx="2159000" cy="914400"/>
          </a:xfrm>
          <a:prstGeom prst="round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9500BA-0203-4822-A7B3-978F9563DC43}"/>
              </a:ext>
            </a:extLst>
          </p:cNvPr>
          <p:cNvSpPr txBox="1"/>
          <p:nvPr/>
        </p:nvSpPr>
        <p:spPr>
          <a:xfrm>
            <a:off x="7886700" y="2603500"/>
            <a:ext cx="20066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Azure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D50A58-2825-4A34-A924-84E87E671E33}"/>
              </a:ext>
            </a:extLst>
          </p:cNvPr>
          <p:cNvSpPr txBox="1"/>
          <p:nvPr/>
        </p:nvSpPr>
        <p:spPr>
          <a:xfrm>
            <a:off x="7912100" y="2908300"/>
            <a:ext cx="19558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000">
                <a:solidFill>
                  <a:srgbClr val="A8B2D8"/>
                </a:solidFill>
                <a:latin typeface="Pretendard"/>
              </a:rPr>
              <a:t>AI Foundry · DevOps · SQL · Storage</a:t>
            </a:r>
            <a:endParaRPr lang="ko-KR" altLang="en-US" sz="10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6E3791B-AD6C-4961-8CA6-3061754BC993}"/>
              </a:ext>
            </a:extLst>
          </p:cNvPr>
          <p:cNvSpPr/>
          <p:nvPr/>
        </p:nvSpPr>
        <p:spPr>
          <a:xfrm>
            <a:off x="7810500" y="4648200"/>
            <a:ext cx="2159000" cy="914400"/>
          </a:xfrm>
          <a:prstGeom prst="roundRect">
            <a:avLst/>
          </a:prstGeom>
          <a:solidFill>
            <a:srgbClr val="03838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537068-9706-4056-B413-B2F98BD2AAC9}"/>
              </a:ext>
            </a:extLst>
          </p:cNvPr>
          <p:cNvSpPr txBox="1"/>
          <p:nvPr/>
        </p:nvSpPr>
        <p:spPr>
          <a:xfrm>
            <a:off x="7886700" y="4762500"/>
            <a:ext cx="20066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외부 </a:t>
            </a:r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SaaS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D50319-1066-402A-BB2B-D097C5D0BC8B}"/>
              </a:ext>
            </a:extLst>
          </p:cNvPr>
          <p:cNvSpPr txBox="1"/>
          <p:nvPr/>
        </p:nvSpPr>
        <p:spPr>
          <a:xfrm>
            <a:off x="7912100" y="5067300"/>
            <a:ext cx="1955800" cy="24622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000">
                <a:solidFill>
                  <a:srgbClr val="A8B2D8"/>
                </a:solidFill>
                <a:latin typeface="Pretendard"/>
              </a:rPr>
              <a:t>Salesforce · SAP · GitHub · Slack </a:t>
            </a:r>
            <a:r>
              <a:rPr lang="ko-KR" altLang="en-US" sz="1000">
                <a:solidFill>
                  <a:srgbClr val="A8B2D8"/>
                </a:solidFill>
                <a:latin typeface="Pretendard"/>
              </a:rPr>
              <a:t>등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B624B1F-5F8C-4370-9ED8-022D48C476EF}"/>
              </a:ext>
            </a:extLst>
          </p:cNvPr>
          <p:cNvSpPr/>
          <p:nvPr/>
        </p:nvSpPr>
        <p:spPr>
          <a:xfrm>
            <a:off x="5016500" y="5321300"/>
            <a:ext cx="2159000" cy="914400"/>
          </a:xfrm>
          <a:prstGeom prst="roundRect">
            <a:avLst/>
          </a:prstGeom>
          <a:solidFill>
            <a:srgbClr val="74277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5B29D7-2F7B-4F72-BB7D-6E40AA112523}"/>
              </a:ext>
            </a:extLst>
          </p:cNvPr>
          <p:cNvSpPr txBox="1"/>
          <p:nvPr/>
        </p:nvSpPr>
        <p:spPr>
          <a:xfrm>
            <a:off x="5092700" y="5435600"/>
            <a:ext cx="20066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데이터 </a:t>
            </a:r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&amp; DB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8A653D-FEBE-41A2-9159-C73E91F57591}"/>
              </a:ext>
            </a:extLst>
          </p:cNvPr>
          <p:cNvSpPr txBox="1"/>
          <p:nvPr/>
        </p:nvSpPr>
        <p:spPr>
          <a:xfrm>
            <a:off x="5118100" y="5740400"/>
            <a:ext cx="1955800" cy="24622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000">
                <a:solidFill>
                  <a:srgbClr val="A8B2D8"/>
                </a:solidFill>
                <a:latin typeface="Pretendard"/>
              </a:rPr>
              <a:t>Dataverse · SQL Server · REST API</a:t>
            </a:r>
            <a:endParaRPr lang="ko-KR" altLang="en-US" sz="10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3E98E5C-5BD4-4A76-BB71-B99FFF22BF8B}"/>
              </a:ext>
            </a:extLst>
          </p:cNvPr>
          <p:cNvSpPr/>
          <p:nvPr/>
        </p:nvSpPr>
        <p:spPr>
          <a:xfrm>
            <a:off x="2222500" y="4648200"/>
            <a:ext cx="2159000" cy="914400"/>
          </a:xfrm>
          <a:prstGeom prst="roundRect">
            <a:avLst/>
          </a:prstGeom>
          <a:solidFill>
            <a:srgbClr val="B83C1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A102DA-EF15-465F-A053-1AF655617C50}"/>
              </a:ext>
            </a:extLst>
          </p:cNvPr>
          <p:cNvSpPr txBox="1"/>
          <p:nvPr/>
        </p:nvSpPr>
        <p:spPr>
          <a:xfrm>
            <a:off x="2298700" y="4762500"/>
            <a:ext cx="20066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레거시 시스템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05A64-0DC3-423F-8513-4B36CEE3A7E2}"/>
              </a:ext>
            </a:extLst>
          </p:cNvPr>
          <p:cNvSpPr txBox="1"/>
          <p:nvPr/>
        </p:nvSpPr>
        <p:spPr>
          <a:xfrm>
            <a:off x="2324100" y="5067300"/>
            <a:ext cx="1955800" cy="24622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000">
                <a:solidFill>
                  <a:srgbClr val="A8B2D8"/>
                </a:solidFill>
                <a:latin typeface="Pretendard"/>
              </a:rPr>
              <a:t>온프레미스 </a:t>
            </a:r>
            <a:r>
              <a:rPr lang="en-US" altLang="ko-KR" sz="1000">
                <a:solidFill>
                  <a:srgbClr val="A8B2D8"/>
                </a:solidFill>
                <a:latin typeface="Pretendard"/>
              </a:rPr>
              <a:t>· ERP · </a:t>
            </a:r>
            <a:r>
              <a:rPr lang="ko-KR" altLang="en-US" sz="1000">
                <a:solidFill>
                  <a:srgbClr val="A8B2D8"/>
                </a:solidFill>
                <a:latin typeface="Pretendard"/>
              </a:rPr>
              <a:t>구형 </a:t>
            </a:r>
            <a:r>
              <a:rPr lang="en-US" altLang="ko-KR" sz="1000">
                <a:solidFill>
                  <a:srgbClr val="A8B2D8"/>
                </a:solidFill>
                <a:latin typeface="Pretendard"/>
              </a:rPr>
              <a:t>(PAD)</a:t>
            </a:r>
            <a:endParaRPr lang="ko-KR" altLang="en-US" sz="10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E8F7175-F6B0-4640-B60C-BDAA5C808679}"/>
              </a:ext>
            </a:extLst>
          </p:cNvPr>
          <p:cNvSpPr/>
          <p:nvPr/>
        </p:nvSpPr>
        <p:spPr>
          <a:xfrm>
            <a:off x="2222500" y="2489200"/>
            <a:ext cx="2159000" cy="914400"/>
          </a:xfrm>
          <a:prstGeom prst="roundRect">
            <a:avLst/>
          </a:prstGeom>
          <a:solidFill>
            <a:srgbClr val="7B2FB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BDDD35-8D26-4AA7-B585-02056C4F3D81}"/>
              </a:ext>
            </a:extLst>
          </p:cNvPr>
          <p:cNvSpPr txBox="1"/>
          <p:nvPr/>
        </p:nvSpPr>
        <p:spPr>
          <a:xfrm>
            <a:off x="2298700" y="2603500"/>
            <a:ext cx="20066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사람 </a:t>
            </a:r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&amp; </a:t>
            </a:r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워크플로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475118-BEFB-4C98-9C2C-A00F6150F416}"/>
              </a:ext>
            </a:extLst>
          </p:cNvPr>
          <p:cNvSpPr txBox="1"/>
          <p:nvPr/>
        </p:nvSpPr>
        <p:spPr>
          <a:xfrm>
            <a:off x="2324100" y="2908300"/>
            <a:ext cx="1955800" cy="24622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000">
                <a:solidFill>
                  <a:srgbClr val="A8B2D8"/>
                </a:solidFill>
                <a:latin typeface="Pretendard"/>
              </a:rPr>
              <a:t>승인 </a:t>
            </a:r>
            <a:r>
              <a:rPr lang="en-US" altLang="ko-KR" sz="1000">
                <a:solidFill>
                  <a:srgbClr val="A8B2D8"/>
                </a:solidFill>
                <a:latin typeface="Pretendard"/>
              </a:rPr>
              <a:t>· </a:t>
            </a:r>
            <a:r>
              <a:rPr lang="ko-KR" altLang="en-US" sz="1000">
                <a:solidFill>
                  <a:srgbClr val="A8B2D8"/>
                </a:solidFill>
                <a:latin typeface="Pretendard"/>
              </a:rPr>
              <a:t>알림 </a:t>
            </a:r>
            <a:r>
              <a:rPr lang="en-US" altLang="ko-KR" sz="1000">
                <a:solidFill>
                  <a:srgbClr val="A8B2D8"/>
                </a:solidFill>
                <a:latin typeface="Pretendard"/>
              </a:rPr>
              <a:t>· HITL · </a:t>
            </a:r>
            <a:r>
              <a:rPr lang="ko-KR" altLang="en-US" sz="1000">
                <a:solidFill>
                  <a:srgbClr val="A8B2D8"/>
                </a:solidFill>
                <a:latin typeface="Pretendard"/>
              </a:rPr>
              <a:t>의사결정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B88500-B2B4-465F-96C3-4B7345FEEEFE}"/>
              </a:ext>
            </a:extLst>
          </p:cNvPr>
          <p:cNvSpPr txBox="1"/>
          <p:nvPr/>
        </p:nvSpPr>
        <p:spPr>
          <a:xfrm>
            <a:off x="1016000" y="65024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 i="1">
                <a:solidFill>
                  <a:srgbClr val="6B7BA4"/>
                </a:solidFill>
                <a:latin typeface="Pretendard"/>
              </a:rPr>
              <a:t>이 전체 생태계를 설계</a:t>
            </a:r>
            <a:r>
              <a:rPr lang="en-US" altLang="ko-KR" sz="1100" i="1">
                <a:solidFill>
                  <a:srgbClr val="6B7BA4"/>
                </a:solidFill>
                <a:latin typeface="Pretendard"/>
              </a:rPr>
              <a:t>·</a:t>
            </a:r>
            <a:r>
              <a:rPr lang="ko-KR" altLang="en-US" sz="1100" i="1">
                <a:solidFill>
                  <a:srgbClr val="6B7BA4"/>
                </a:solidFill>
                <a:latin typeface="Pretendard"/>
              </a:rPr>
              <a:t>구축할 수 있는 팀이 오늘 안내합니다</a:t>
            </a:r>
          </a:p>
        </p:txBody>
      </p:sp>
    </p:spTree>
    <p:extLst>
      <p:ext uri="{BB962C8B-B14F-4D97-AF65-F5344CB8AC3E}">
        <p14:creationId xmlns:p14="http://schemas.microsoft.com/office/powerpoint/2010/main" val="384501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lBa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yebrow"/>
          <p:cNvSpPr txBox="1"/>
          <p:nvPr/>
        </p:nvSpPr>
        <p:spPr>
          <a:xfrm>
            <a:off x="1016000" y="5080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06D6A0"/>
                </a:solidFill>
                <a:latin typeface="Calibri"/>
                <a:cs typeface="Calibri"/>
              </a:rPr>
              <a:t>MS AI ECOSYSTEM</a:t>
            </a:r>
          </a:p>
        </p:txBody>
      </p:sp>
      <p:sp>
        <p:nvSpPr>
          <p:cNvPr id="71" name="Title"/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Calibri"/>
                <a:cs typeface="Calibri"/>
              </a:rPr>
              <a:t>MS AI 도구 전체 지도</a:t>
            </a:r>
          </a:p>
        </p:txBody>
      </p:sp>
      <p:sp>
        <p:nvSpPr>
          <p:cNvPr id="72" name="Sub"/>
          <p:cNvSpPr txBox="1"/>
          <p:nvPr/>
        </p:nvSpPr>
        <p:spPr>
          <a:xfrm>
            <a:off x="1016000" y="13716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00" dirty="0">
                <a:solidFill>
                  <a:srgbClr val="A8B2D8"/>
                </a:solidFill>
                <a:latin typeface="Calibri"/>
                <a:cs typeface="Calibri"/>
              </a:rPr>
              <a:t>도구마다 난이도·권한·자율성이 다릅니다 — 오늘 배우는 건 Copilot Studio</a:t>
            </a:r>
          </a:p>
        </p:txBody>
      </p:sp>
      <p:sp>
        <p:nvSpPr>
          <p:cNvPr id="81" name="Bar0"/>
          <p:cNvSpPr/>
          <p:nvPr/>
        </p:nvSpPr>
        <p:spPr>
          <a:xfrm>
            <a:off x="1016000" y="4000500"/>
            <a:ext cx="1905000" cy="1651000"/>
          </a:xfrm>
          <a:prstGeom prst="roundRect">
            <a:avLst>
              <a:gd name="adj" fmla="val 9000"/>
            </a:avLst>
          </a:prstGeom>
          <a:solidFill>
            <a:srgbClr val="16224A"/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Calibri"/>
                <a:cs typeface="Calibri"/>
              </a:rPr>
              <a:t>M365 Agent Builder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Calibri"/>
                <a:cs typeface="Calibri"/>
              </a:rPr>
              <a:t>선언형 · 5분 셋업</a:t>
            </a:r>
          </a:p>
        </p:txBody>
      </p:sp>
      <p:sp>
        <p:nvSpPr>
          <p:cNvPr id="82" name="Bar1"/>
          <p:cNvSpPr/>
          <p:nvPr/>
        </p:nvSpPr>
        <p:spPr>
          <a:xfrm>
            <a:off x="3073400" y="3492500"/>
            <a:ext cx="1905000" cy="2159000"/>
          </a:xfrm>
          <a:prstGeom prst="roundRect">
            <a:avLst>
              <a:gd name="adj" fmla="val 9000"/>
            </a:avLst>
          </a:prstGeom>
          <a:solidFill>
            <a:srgbClr val="16224A"/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Calibri"/>
                <a:cs typeface="Calibri"/>
              </a:rPr>
              <a:t>App Builder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Calibri"/>
                <a:cs typeface="Calibri"/>
              </a:rPr>
              <a:t>자연어 앱 생성 (Frontier)</a:t>
            </a:r>
          </a:p>
        </p:txBody>
      </p:sp>
      <p:sp>
        <p:nvSpPr>
          <p:cNvPr id="83" name="Bar2"/>
          <p:cNvSpPr/>
          <p:nvPr/>
        </p:nvSpPr>
        <p:spPr>
          <a:xfrm>
            <a:off x="5130800" y="2984500"/>
            <a:ext cx="1905000" cy="2667000"/>
          </a:xfrm>
          <a:prstGeom prst="roundRect">
            <a:avLst>
              <a:gd name="adj" fmla="val 9000"/>
            </a:avLst>
          </a:prstGeom>
          <a:solidFill>
            <a:srgbClr val="16224A"/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Calibri"/>
                <a:cs typeface="Calibri"/>
              </a:rPr>
              <a:t>Copilot Cowork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Calibri"/>
                <a:cs typeface="Calibri"/>
              </a:rPr>
              <a:t>테넌트 파일 작업 (Frontier)</a:t>
            </a:r>
          </a:p>
        </p:txBody>
      </p:sp>
      <p:sp>
        <p:nvSpPr>
          <p:cNvPr id="84" name="Bar3"/>
          <p:cNvSpPr/>
          <p:nvPr/>
        </p:nvSpPr>
        <p:spPr>
          <a:xfrm>
            <a:off x="7188200" y="2476500"/>
            <a:ext cx="1905000" cy="3175000"/>
          </a:xfrm>
          <a:prstGeom prst="roundRect">
            <a:avLst>
              <a:gd name="adj" fmla="val 9000"/>
            </a:avLst>
          </a:prstGeom>
          <a:solidFill>
            <a:srgbClr val="102B4A"/>
          </a:solidFill>
          <a:ln w="31750">
            <a:solidFill>
              <a:srgbClr val="06D6A0"/>
            </a:solidFill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Calibri"/>
                <a:cs typeface="Calibri"/>
              </a:rPr>
              <a:t>Copilot Studio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Calibri"/>
                <a:cs typeface="Calibri"/>
              </a:rPr>
              <a:t>흐름 · 커넥터 · 거버넌스</a:t>
            </a:r>
          </a:p>
        </p:txBody>
      </p:sp>
      <p:sp>
        <p:nvSpPr>
          <p:cNvPr id="85" name="Bar4"/>
          <p:cNvSpPr/>
          <p:nvPr/>
        </p:nvSpPr>
        <p:spPr>
          <a:xfrm>
            <a:off x="9245600" y="1968500"/>
            <a:ext cx="1905000" cy="3683000"/>
          </a:xfrm>
          <a:prstGeom prst="roundRect">
            <a:avLst>
              <a:gd name="adj" fmla="val 9000"/>
            </a:avLst>
          </a:prstGeom>
          <a:solidFill>
            <a:srgbClr val="16224A"/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Calibri"/>
                <a:cs typeface="Calibri"/>
              </a:rPr>
              <a:t>Azure AI Foundry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Calibri"/>
                <a:cs typeface="Calibri"/>
              </a:rPr>
              <a:t>파인튜닝 · RAG · 1900+ 모델</a:t>
            </a:r>
          </a:p>
        </p:txBody>
      </p:sp>
      <p:sp>
        <p:nvSpPr>
          <p:cNvPr id="86" name="CSlabel"/>
          <p:cNvSpPr txBox="1"/>
          <p:nvPr/>
        </p:nvSpPr>
        <p:spPr>
          <a:xfrm>
            <a:off x="7188200" y="21844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06D6A0"/>
                </a:solidFill>
                <a:latin typeface="Calibri"/>
                <a:cs typeface="Calibri"/>
              </a:rPr>
              <a:t>오늘의 주인공</a:t>
            </a:r>
          </a:p>
        </p:txBody>
      </p:sp>
      <p:sp>
        <p:nvSpPr>
          <p:cNvPr id="95" name="Axis"/>
          <p:cNvSpPr/>
          <p:nvPr/>
        </p:nvSpPr>
        <p:spPr>
          <a:xfrm>
            <a:off x="1016000" y="5715000"/>
            <a:ext cx="10160000" cy="635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A3570"/>
          </a:solidFill>
          <a:ln>
            <a:noFill/>
          </a:ln>
        </p:spPr>
        <p:txBody>
          <a:bodyPr lIns="91440" rIns="200000" anchor="ctr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Calibri"/>
                <a:cs typeface="Calibri"/>
              </a:rPr>
              <a:t>낮음        난이도 · 권한 · 자율성        높음</a:t>
            </a:r>
          </a:p>
        </p:txBody>
      </p:sp>
    </p:spTree>
    <p:extLst>
      <p:ext uri="{BB962C8B-B14F-4D97-AF65-F5344CB8AC3E}">
        <p14:creationId xmlns:p14="http://schemas.microsoft.com/office/powerpoint/2010/main" val="27030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3C344F-E7A2-4A30-90C7-91050CBD78FE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D9F3AE-52A2-43B0-991C-06394B6F152D}"/>
              </a:ext>
            </a:extLst>
          </p:cNvPr>
          <p:cNvSpPr/>
          <p:nvPr/>
        </p:nvSpPr>
        <p:spPr>
          <a:xfrm>
            <a:off x="5969000" y="0"/>
            <a:ext cx="6223000" cy="6858000"/>
          </a:xfrm>
          <a:prstGeom prst="rect">
            <a:avLst/>
          </a:prstGeom>
          <a:solidFill>
            <a:srgbClr val="090E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37435-1BDE-4F78-948D-55F4B4C4902D}"/>
              </a:ext>
            </a:extLst>
          </p:cNvPr>
          <p:cNvSpPr txBox="1"/>
          <p:nvPr/>
        </p:nvSpPr>
        <p:spPr>
          <a:xfrm>
            <a:off x="609600" y="1905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LIVE DEMO</a:t>
            </a:r>
            <a:endParaRPr lang="ko-KR" altLang="en-US" sz="13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7B233-28E3-48E2-81BB-1C7CB2E61901}"/>
              </a:ext>
            </a:extLst>
          </p:cNvPr>
          <p:cNvSpPr txBox="1"/>
          <p:nvPr/>
        </p:nvSpPr>
        <p:spPr>
          <a:xfrm>
            <a:off x="609600" y="2260600"/>
            <a:ext cx="5334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4400" b="1">
                <a:solidFill>
                  <a:srgbClr val="FFFFFF"/>
                </a:solidFill>
                <a:latin typeface="Pretendard"/>
              </a:rPr>
              <a:t>이력서 파일</a:t>
            </a:r>
            <a:r>
              <a:rPr lang="en-US" altLang="ko-KR" sz="4400" b="1">
                <a:solidFill>
                  <a:srgbClr val="FFFFFF"/>
                </a:solidFill>
                <a:latin typeface="Pretendard"/>
              </a:rPr>
              <a:t>,</a:t>
            </a:r>
            <a:endParaRPr lang="ko-KR" altLang="en-US" sz="4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EFE03-99F6-474E-A503-9E77B558D11D}"/>
              </a:ext>
            </a:extLst>
          </p:cNvPr>
          <p:cNvSpPr txBox="1"/>
          <p:nvPr/>
        </p:nvSpPr>
        <p:spPr>
          <a:xfrm>
            <a:off x="609600" y="3022600"/>
            <a:ext cx="5334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4400" b="1">
                <a:solidFill>
                  <a:srgbClr val="06D6A0"/>
                </a:solidFill>
                <a:latin typeface="Pretendard"/>
              </a:rPr>
              <a:t>한 번에 </a:t>
            </a:r>
            <a:r>
              <a:rPr lang="en-US" altLang="ko-KR" sz="4400" b="1">
                <a:solidFill>
                  <a:srgbClr val="06D6A0"/>
                </a:solidFill>
                <a:latin typeface="Pretendard"/>
              </a:rPr>
              <a:t>PDF</a:t>
            </a:r>
            <a:r>
              <a:rPr lang="ko-KR" altLang="en-US" sz="4400" b="1">
                <a:solidFill>
                  <a:srgbClr val="06D6A0"/>
                </a:solidFill>
                <a:latin typeface="Pretendard"/>
              </a:rPr>
              <a:t>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EF6CE8-9388-4A51-B7DD-9094968470A1}"/>
              </a:ext>
            </a:extLst>
          </p:cNvPr>
          <p:cNvSpPr/>
          <p:nvPr/>
        </p:nvSpPr>
        <p:spPr>
          <a:xfrm>
            <a:off x="609600" y="3962400"/>
            <a:ext cx="1219200" cy="508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64B31-2ACA-498C-ABB1-E2806A8FEB70}"/>
              </a:ext>
            </a:extLst>
          </p:cNvPr>
          <p:cNvSpPr txBox="1"/>
          <p:nvPr/>
        </p:nvSpPr>
        <p:spPr>
          <a:xfrm>
            <a:off x="609600" y="4191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HWP · DOCX → PDF</a:t>
            </a:r>
            <a:endParaRPr lang="ko-KR" altLang="en-US" sz="16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7FDA9-5F82-4AB6-90B0-FE2D03119DCF}"/>
              </a:ext>
            </a:extLst>
          </p:cNvPr>
          <p:cNvSpPr txBox="1"/>
          <p:nvPr/>
        </p:nvSpPr>
        <p:spPr>
          <a:xfrm>
            <a:off x="609600" y="4546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 i="1">
                <a:solidFill>
                  <a:srgbClr val="A8B2D8"/>
                </a:solidFill>
                <a:latin typeface="Pretendard"/>
              </a:rPr>
              <a:t>Power Automate Desktop </a:t>
            </a:r>
            <a:r>
              <a:rPr lang="ko-KR" altLang="en-US" sz="1400" i="1">
                <a:solidFill>
                  <a:srgbClr val="A8B2D8"/>
                </a:solidFill>
                <a:latin typeface="Pretendard"/>
              </a:rPr>
              <a:t>배치 변환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B7E99-ED62-4778-8BC3-8B81EEDB40C8}"/>
              </a:ext>
            </a:extLst>
          </p:cNvPr>
          <p:cNvSpPr txBox="1"/>
          <p:nvPr/>
        </p:nvSpPr>
        <p:spPr>
          <a:xfrm>
            <a:off x="609600" y="61722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>
                <a:solidFill>
                  <a:srgbClr val="6B7BA4"/>
                </a:solidFill>
                <a:latin typeface="Pretendard"/>
              </a:rPr>
              <a:t>오늘 강의에서 직접 다루게 될 이력서 샘플입니다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233A43-A758-447F-8EEE-91DCBFB90329}"/>
              </a:ext>
            </a:extLst>
          </p:cNvPr>
          <p:cNvSpPr/>
          <p:nvPr/>
        </p:nvSpPr>
        <p:spPr>
          <a:xfrm>
            <a:off x="6858000" y="2349500"/>
            <a:ext cx="736600" cy="762000"/>
          </a:xfrm>
          <a:prstGeom prst="roundRect">
            <a:avLst/>
          </a:prstGeom>
          <a:solidFill>
            <a:srgbClr val="1A2A3A"/>
          </a:solidFill>
          <a:ln w="12700" cap="flat" cmpd="sng" algn="ctr">
            <a:solidFill>
              <a:srgbClr val="4D5F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>
                <a:solidFill>
                  <a:srgbClr val="A8B2D8"/>
                </a:solidFill>
                <a:latin typeface="Pretendard"/>
              </a:rPr>
              <a:t>.hwp</a:t>
            </a:r>
            <a:endParaRPr lang="ko-KR" altLang="en-US" sz="11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9E64870-62DB-43E2-A0C2-E59819B4EE7A}"/>
              </a:ext>
            </a:extLst>
          </p:cNvPr>
          <p:cNvSpPr/>
          <p:nvPr/>
        </p:nvSpPr>
        <p:spPr>
          <a:xfrm>
            <a:off x="6858000" y="3365500"/>
            <a:ext cx="736600" cy="762000"/>
          </a:xfrm>
          <a:prstGeom prst="roundRect">
            <a:avLst/>
          </a:prstGeom>
          <a:solidFill>
            <a:srgbClr val="1A2A3A"/>
          </a:solidFill>
          <a:ln w="12700" cap="flat" cmpd="sng" algn="ctr">
            <a:solidFill>
              <a:srgbClr val="4D5F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>
                <a:solidFill>
                  <a:srgbClr val="A8B2D8"/>
                </a:solidFill>
                <a:latin typeface="Pretendard"/>
              </a:rPr>
              <a:t>.docx</a:t>
            </a:r>
            <a:endParaRPr lang="ko-KR" altLang="en-US" sz="11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AC1AEC9-87B3-45CC-A66F-2FD78D283328}"/>
              </a:ext>
            </a:extLst>
          </p:cNvPr>
          <p:cNvSpPr/>
          <p:nvPr/>
        </p:nvSpPr>
        <p:spPr>
          <a:xfrm>
            <a:off x="6858000" y="4381500"/>
            <a:ext cx="736600" cy="762000"/>
          </a:xfrm>
          <a:prstGeom prst="roundRect">
            <a:avLst/>
          </a:prstGeom>
          <a:solidFill>
            <a:srgbClr val="1A2A3A"/>
          </a:solidFill>
          <a:ln w="12700" cap="flat" cmpd="sng" algn="ctr">
            <a:solidFill>
              <a:srgbClr val="4D5F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>
                <a:solidFill>
                  <a:srgbClr val="A8B2D8"/>
                </a:solidFill>
                <a:latin typeface="Pretendard"/>
              </a:rPr>
              <a:t>.hwp</a:t>
            </a:r>
            <a:endParaRPr lang="ko-KR" altLang="en-US" sz="11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E4173-EB2C-4E4A-9767-E474078D65E5}"/>
              </a:ext>
            </a:extLst>
          </p:cNvPr>
          <p:cNvSpPr txBox="1"/>
          <p:nvPr/>
        </p:nvSpPr>
        <p:spPr>
          <a:xfrm>
            <a:off x="8229600" y="3175000"/>
            <a:ext cx="1016000" cy="762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ko-KR" altLang="en-US" sz="4000" b="1">
                <a:solidFill>
                  <a:srgbClr val="06D6A0"/>
                </a:solidFill>
                <a:latin typeface="Pretendard"/>
              </a:rPr>
              <a:t>→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D65C4D-B1D3-43FE-8424-88A1E5F8EBA7}"/>
              </a:ext>
            </a:extLst>
          </p:cNvPr>
          <p:cNvSpPr txBox="1"/>
          <p:nvPr/>
        </p:nvSpPr>
        <p:spPr>
          <a:xfrm>
            <a:off x="7975600" y="40894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000">
                <a:solidFill>
                  <a:srgbClr val="6B7BA4"/>
                </a:solidFill>
                <a:latin typeface="Pretendard"/>
              </a:rPr>
              <a:t>PAD </a:t>
            </a:r>
            <a:r>
              <a:rPr lang="ko-KR" altLang="en-US" sz="1000">
                <a:solidFill>
                  <a:srgbClr val="6B7BA4"/>
                </a:solidFill>
                <a:latin typeface="Pretendard"/>
              </a:rPr>
              <a:t>자동 변환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9C44F56-8FC4-4021-B8CF-C4510C43AC91}"/>
              </a:ext>
            </a:extLst>
          </p:cNvPr>
          <p:cNvSpPr/>
          <p:nvPr/>
        </p:nvSpPr>
        <p:spPr>
          <a:xfrm>
            <a:off x="9652000" y="2349500"/>
            <a:ext cx="736600" cy="762000"/>
          </a:xfrm>
          <a:prstGeom prst="roundRect">
            <a:avLst/>
          </a:prstGeom>
          <a:solidFill>
            <a:srgbClr val="0D2A1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>
                <a:solidFill>
                  <a:srgbClr val="06D6A0"/>
                </a:solidFill>
                <a:latin typeface="Pretendard"/>
              </a:rPr>
              <a:t>.pdf</a:t>
            </a:r>
            <a:endParaRPr lang="ko-KR" altLang="en-US" sz="1100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D018319-1274-4EEE-9B3E-A54F327163D5}"/>
              </a:ext>
            </a:extLst>
          </p:cNvPr>
          <p:cNvSpPr/>
          <p:nvPr/>
        </p:nvSpPr>
        <p:spPr>
          <a:xfrm>
            <a:off x="9652000" y="3365500"/>
            <a:ext cx="736600" cy="762000"/>
          </a:xfrm>
          <a:prstGeom prst="roundRect">
            <a:avLst/>
          </a:prstGeom>
          <a:solidFill>
            <a:srgbClr val="0D2A1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>
                <a:solidFill>
                  <a:srgbClr val="06D6A0"/>
                </a:solidFill>
                <a:latin typeface="Pretendard"/>
              </a:rPr>
              <a:t>.pdf</a:t>
            </a:r>
            <a:endParaRPr lang="ko-KR" altLang="en-US" sz="1100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3B31E50-B603-47E0-896D-4E330F50BADC}"/>
              </a:ext>
            </a:extLst>
          </p:cNvPr>
          <p:cNvSpPr/>
          <p:nvPr/>
        </p:nvSpPr>
        <p:spPr>
          <a:xfrm>
            <a:off x="9652000" y="4381500"/>
            <a:ext cx="736600" cy="762000"/>
          </a:xfrm>
          <a:prstGeom prst="roundRect">
            <a:avLst/>
          </a:prstGeom>
          <a:solidFill>
            <a:srgbClr val="0D2A1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>
                <a:solidFill>
                  <a:srgbClr val="06D6A0"/>
                </a:solidFill>
                <a:latin typeface="Pretendard"/>
              </a:rPr>
              <a:t>.pdf</a:t>
            </a:r>
            <a:endParaRPr lang="ko-KR" altLang="en-US" sz="1100">
              <a:solidFill>
                <a:srgbClr val="06D6A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6058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4957BD-B80F-150C-84B8-0B067B8D205D}"/>
              </a:ext>
            </a:extLst>
          </p:cNvPr>
          <p:cNvSpPr txBox="1"/>
          <p:nvPr/>
        </p:nvSpPr>
        <p:spPr>
          <a:xfrm>
            <a:off x="2703095" y="3068053"/>
            <a:ext cx="6785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시연 영상 구간</a:t>
            </a:r>
          </a:p>
        </p:txBody>
      </p:sp>
    </p:spTree>
    <p:extLst>
      <p:ext uri="{BB962C8B-B14F-4D97-AF65-F5344CB8AC3E}">
        <p14:creationId xmlns:p14="http://schemas.microsoft.com/office/powerpoint/2010/main" val="268636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901567-DF06-43DE-B925-A8B0CA4C5FC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EE3F5-066C-4101-B6C3-8F879A457C0F}"/>
              </a:ext>
            </a:extLst>
          </p:cNvPr>
          <p:cNvSpPr txBox="1"/>
          <p:nvPr/>
        </p:nvSpPr>
        <p:spPr>
          <a:xfrm>
            <a:off x="10160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POWER AUTOMATE</a:t>
            </a:r>
            <a:endParaRPr lang="ko-KR" altLang="en-US" sz="13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26DE4-FC3D-40D4-9984-48B49C2755B4}"/>
              </a:ext>
            </a:extLst>
          </p:cNvPr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2800" b="1">
                <a:solidFill>
                  <a:srgbClr val="FFFFFF"/>
                </a:solidFill>
                <a:latin typeface="Pretendard"/>
              </a:rPr>
              <a:t>클라우드 흐름 </a:t>
            </a:r>
            <a:r>
              <a:rPr lang="en-US" altLang="ko-KR" sz="2800" b="1">
                <a:solidFill>
                  <a:srgbClr val="FFFFFF"/>
                </a:solidFill>
                <a:latin typeface="Pretendard"/>
              </a:rPr>
              <a:t>vs PAD</a:t>
            </a:r>
            <a:endParaRPr lang="ko-KR" altLang="en-US" sz="28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E209A7-25DE-47EB-83E1-EBE588AC5D89}"/>
              </a:ext>
            </a:extLst>
          </p:cNvPr>
          <p:cNvSpPr/>
          <p:nvPr/>
        </p:nvSpPr>
        <p:spPr>
          <a:xfrm>
            <a:off x="1016000" y="1422400"/>
            <a:ext cx="10160000" cy="1524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D168567-231E-42D3-9F58-243AE8A5C977}"/>
              </a:ext>
            </a:extLst>
          </p:cNvPr>
          <p:cNvSpPr/>
          <p:nvPr/>
        </p:nvSpPr>
        <p:spPr>
          <a:xfrm>
            <a:off x="1016000" y="1778000"/>
            <a:ext cx="4889500" cy="3683000"/>
          </a:xfrm>
          <a:prstGeom prst="roundRect">
            <a:avLst/>
          </a:prstGeom>
          <a:solidFill>
            <a:srgbClr val="0D1A3A"/>
          </a:solidFill>
          <a:ln w="2540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7EE247F-95D3-4FE9-8F97-9361FB0F3B48}"/>
              </a:ext>
            </a:extLst>
          </p:cNvPr>
          <p:cNvSpPr/>
          <p:nvPr/>
        </p:nvSpPr>
        <p:spPr>
          <a:xfrm>
            <a:off x="4038600" y="2165684"/>
            <a:ext cx="1371600" cy="304800"/>
          </a:xfrm>
          <a:prstGeom prst="round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0F1535"/>
                </a:solidFill>
                <a:latin typeface="Pretendard"/>
              </a:rPr>
              <a:t>★ 오늘 강의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AFECA-C127-40B0-92D4-6F61A4C86D0D}"/>
              </a:ext>
            </a:extLst>
          </p:cNvPr>
          <p:cNvSpPr txBox="1"/>
          <p:nvPr/>
        </p:nvSpPr>
        <p:spPr>
          <a:xfrm>
            <a:off x="1320800" y="20066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  <a:latin typeface="Pretendard"/>
              </a:rPr>
              <a:t>Cloud Flows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C14C9-C0BB-49A2-A1F1-4374C32D58F9}"/>
              </a:ext>
            </a:extLst>
          </p:cNvPr>
          <p:cNvSpPr txBox="1"/>
          <p:nvPr/>
        </p:nvSpPr>
        <p:spPr>
          <a:xfrm>
            <a:off x="1320800" y="23876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 b="1">
                <a:solidFill>
                  <a:srgbClr val="06D6A0"/>
                </a:solidFill>
                <a:latin typeface="Pretendard"/>
              </a:rPr>
              <a:t>클라우드 흐름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08C2F-59B7-444F-804C-BC2B8A8BDD79}"/>
              </a:ext>
            </a:extLst>
          </p:cNvPr>
          <p:cNvSpPr txBox="1"/>
          <p:nvPr/>
        </p:nvSpPr>
        <p:spPr>
          <a:xfrm>
            <a:off x="1320800" y="2895600"/>
            <a:ext cx="4279900" cy="160043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•  </a:t>
            </a:r>
            <a:r>
              <a:rPr lang="ko-KR" altLang="en-US" sz="1400" dirty="0">
                <a:solidFill>
                  <a:srgbClr val="FFFFFF"/>
                </a:solidFill>
                <a:latin typeface="Pretendard"/>
              </a:rPr>
              <a:t>이메일</a:t>
            </a:r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·</a:t>
            </a:r>
            <a:r>
              <a:rPr lang="ko-KR" altLang="en-US" sz="1400" dirty="0" err="1">
                <a:solidFill>
                  <a:srgbClr val="FFFFFF"/>
                </a:solidFill>
                <a:latin typeface="Pretendard"/>
              </a:rPr>
              <a:t>웹훅</a:t>
            </a:r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·SharePoint </a:t>
            </a:r>
            <a:r>
              <a:rPr lang="ko-KR" altLang="en-US" sz="1400" dirty="0">
                <a:solidFill>
                  <a:srgbClr val="FFFFFF"/>
                </a:solidFill>
                <a:latin typeface="Pretendard"/>
              </a:rPr>
              <a:t>이벤트 트리거
</a:t>
            </a:r>
            <a:endParaRPr lang="en-US" altLang="ko-KR" sz="1400" dirty="0">
              <a:solidFill>
                <a:srgbClr val="FFFFFF"/>
              </a:solidFill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•  API·</a:t>
            </a:r>
            <a:r>
              <a:rPr lang="ko-KR" altLang="en-US" sz="1400" dirty="0">
                <a:solidFill>
                  <a:srgbClr val="FFFFFF"/>
                </a:solidFill>
                <a:latin typeface="Pretendard"/>
              </a:rPr>
              <a:t>커넥터 기반 통합
</a:t>
            </a:r>
            <a:endParaRPr lang="en-US" altLang="ko-KR" sz="1400" dirty="0">
              <a:solidFill>
                <a:srgbClr val="FFFFFF"/>
              </a:solidFill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•  </a:t>
            </a:r>
            <a:r>
              <a:rPr lang="ko-KR" altLang="en-US" sz="1400" dirty="0">
                <a:solidFill>
                  <a:srgbClr val="FFFFFF"/>
                </a:solidFill>
                <a:latin typeface="Pretendard"/>
              </a:rPr>
              <a:t>서버리스 </a:t>
            </a:r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— </a:t>
            </a:r>
            <a:r>
              <a:rPr lang="ko-KR" altLang="en-US" sz="1400" dirty="0">
                <a:solidFill>
                  <a:srgbClr val="FFFFFF"/>
                </a:solidFill>
                <a:latin typeface="Pretendard"/>
              </a:rPr>
              <a:t>내 </a:t>
            </a:r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PC </a:t>
            </a:r>
            <a:r>
              <a:rPr lang="ko-KR" altLang="en-US" sz="1400" dirty="0">
                <a:solidFill>
                  <a:srgbClr val="FFFFFF"/>
                </a:solidFill>
                <a:latin typeface="Pretendard"/>
              </a:rPr>
              <a:t>없어도 실행
</a:t>
            </a:r>
            <a:endParaRPr lang="en-US" altLang="ko-KR" sz="1400" dirty="0">
              <a:solidFill>
                <a:srgbClr val="FFFFFF"/>
              </a:solidFill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FFFFFF"/>
                </a:solidFill>
                <a:latin typeface="Pretendard"/>
              </a:rPr>
              <a:t>•  Copilot Studio</a:t>
            </a:r>
            <a:r>
              <a:rPr lang="ko-KR" altLang="en-US" sz="1400" dirty="0">
                <a:solidFill>
                  <a:srgbClr val="FFFFFF"/>
                </a:solidFill>
                <a:latin typeface="Pretendard"/>
              </a:rPr>
              <a:t>와 네이티브 연동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B82FE3D-6F0C-4E7F-A736-ED91C9DA1462}"/>
              </a:ext>
            </a:extLst>
          </p:cNvPr>
          <p:cNvSpPr/>
          <p:nvPr/>
        </p:nvSpPr>
        <p:spPr>
          <a:xfrm>
            <a:off x="6286500" y="1778000"/>
            <a:ext cx="4889500" cy="3683000"/>
          </a:xfrm>
          <a:prstGeom prst="roundRect">
            <a:avLst/>
          </a:prstGeom>
          <a:solidFill>
            <a:srgbClr val="1A1A2E"/>
          </a:solidFill>
          <a:ln w="12700" cap="flat" cmpd="sng" algn="ctr">
            <a:solidFill>
              <a:srgbClr val="4D5F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45731-ABC3-4A43-8849-24CF3F16A8ED}"/>
              </a:ext>
            </a:extLst>
          </p:cNvPr>
          <p:cNvSpPr txBox="1"/>
          <p:nvPr/>
        </p:nvSpPr>
        <p:spPr>
          <a:xfrm>
            <a:off x="6591300" y="20066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  <a:latin typeface="Pretendard"/>
              </a:rPr>
              <a:t>Power Automate Desktop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3AE8B3-67BB-4262-984C-F7EE71D65959}"/>
              </a:ext>
            </a:extLst>
          </p:cNvPr>
          <p:cNvSpPr txBox="1"/>
          <p:nvPr/>
        </p:nvSpPr>
        <p:spPr>
          <a:xfrm>
            <a:off x="6591300" y="23876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 b="1">
                <a:solidFill>
                  <a:srgbClr val="C5CDE6"/>
                </a:solidFill>
                <a:latin typeface="Pretendard"/>
              </a:rPr>
              <a:t>데스크탑 자동화 </a:t>
            </a:r>
            <a:r>
              <a:rPr lang="en-US" altLang="ko-KR" sz="1200" b="1">
                <a:solidFill>
                  <a:srgbClr val="C5CDE6"/>
                </a:solidFill>
                <a:latin typeface="Pretendard"/>
              </a:rPr>
              <a:t>(RPA)</a:t>
            </a:r>
            <a:endParaRPr lang="ko-KR" altLang="en-US" sz="1200" b="1">
              <a:solidFill>
                <a:srgbClr val="C5CDE6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8D2BE1-3A68-47E3-AC21-2D89B209248A}"/>
              </a:ext>
            </a:extLst>
          </p:cNvPr>
          <p:cNvSpPr txBox="1"/>
          <p:nvPr/>
        </p:nvSpPr>
        <p:spPr>
          <a:xfrm>
            <a:off x="6591300" y="2895600"/>
            <a:ext cx="4279900" cy="160043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•  </a:t>
            </a:r>
            <a:r>
              <a:rPr lang="ko-KR" altLang="en-US" sz="1400" dirty="0">
                <a:solidFill>
                  <a:srgbClr val="C5CDE6"/>
                </a:solidFill>
                <a:latin typeface="Pretendard"/>
              </a:rPr>
              <a:t>데스크탑 </a:t>
            </a:r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UI </a:t>
            </a:r>
            <a:r>
              <a:rPr lang="ko-KR" altLang="en-US" sz="1400" dirty="0">
                <a:solidFill>
                  <a:srgbClr val="C5CDE6"/>
                </a:solidFill>
                <a:latin typeface="Pretendard"/>
              </a:rPr>
              <a:t>자동화 </a:t>
            </a:r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(RPA)
</a:t>
            </a:r>
          </a:p>
          <a:p>
            <a:pPr algn="l"/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•  </a:t>
            </a:r>
            <a:r>
              <a:rPr lang="ko-KR" altLang="en-US" sz="1400" dirty="0">
                <a:solidFill>
                  <a:srgbClr val="C5CDE6"/>
                </a:solidFill>
                <a:latin typeface="Pretendard"/>
              </a:rPr>
              <a:t>레거시</a:t>
            </a:r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C5CDE6"/>
                </a:solidFill>
                <a:latin typeface="Pretendard"/>
              </a:rPr>
              <a:t>로컬 앱 처리
</a:t>
            </a:r>
            <a:endParaRPr lang="en-US" altLang="ko-KR" sz="1400" dirty="0">
              <a:solidFill>
                <a:srgbClr val="C5CDE6"/>
              </a:solidFill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•  </a:t>
            </a:r>
            <a:r>
              <a:rPr lang="ko-KR" altLang="en-US" sz="1400" dirty="0">
                <a:solidFill>
                  <a:srgbClr val="C5CDE6"/>
                </a:solidFill>
                <a:latin typeface="Pretendard"/>
              </a:rPr>
              <a:t>내 </a:t>
            </a:r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PC</a:t>
            </a:r>
            <a:r>
              <a:rPr lang="ko-KR" altLang="en-US" sz="1400" dirty="0">
                <a:solidFill>
                  <a:srgbClr val="C5CDE6"/>
                </a:solidFill>
                <a:latin typeface="Pretendard"/>
              </a:rPr>
              <a:t>가 실행되어야 동작
</a:t>
            </a:r>
            <a:endParaRPr lang="en-US" altLang="ko-KR" sz="1400" dirty="0">
              <a:solidFill>
                <a:srgbClr val="C5CDE6"/>
              </a:solidFill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C5CDE6"/>
                </a:solidFill>
                <a:latin typeface="Pretendard"/>
              </a:rPr>
              <a:t>•  </a:t>
            </a:r>
            <a:r>
              <a:rPr lang="ko-KR" altLang="en-US" sz="1400" dirty="0">
                <a:solidFill>
                  <a:srgbClr val="C5CDE6"/>
                </a:solidFill>
                <a:latin typeface="Pretendard"/>
              </a:rPr>
              <a:t>방금 시연한 것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730AEC-06DB-4274-BFAA-1E599C27F61B}"/>
              </a:ext>
            </a:extLst>
          </p:cNvPr>
          <p:cNvSpPr txBox="1"/>
          <p:nvPr/>
        </p:nvSpPr>
        <p:spPr>
          <a:xfrm>
            <a:off x="5930900" y="3365500"/>
            <a:ext cx="330200" cy="50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altLang="ko-KR" sz="2400" b="1">
                <a:solidFill>
                  <a:srgbClr val="4D5FA0"/>
                </a:solidFill>
                <a:latin typeface="Pretendard"/>
              </a:rPr>
              <a:t>vs</a:t>
            </a:r>
            <a:endParaRPr lang="ko-KR" altLang="en-US" sz="2400" b="1">
              <a:solidFill>
                <a:srgbClr val="4D5FA0"/>
              </a:solidFill>
              <a:latin typeface="Pretendard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B0BDE4-3B56-4EDD-A997-06B3B6794030}"/>
              </a:ext>
            </a:extLst>
          </p:cNvPr>
          <p:cNvSpPr/>
          <p:nvPr/>
        </p:nvSpPr>
        <p:spPr>
          <a:xfrm>
            <a:off x="1016000" y="5715000"/>
            <a:ext cx="10160000" cy="584200"/>
          </a:xfrm>
          <a:prstGeom prst="roundRect">
            <a:avLst/>
          </a:prstGeom>
          <a:solidFill>
            <a:srgbClr val="1A2A1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95910C-9D82-44A6-BC4C-91AAD2F06A6B}"/>
              </a:ext>
            </a:extLst>
          </p:cNvPr>
          <p:cNvSpPr txBox="1"/>
          <p:nvPr/>
        </p:nvSpPr>
        <p:spPr>
          <a:xfrm>
            <a:off x="1016000" y="57150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06D6A0"/>
                </a:solidFill>
                <a:latin typeface="Pretendard"/>
              </a:rPr>
              <a:t>오늘 강의</a:t>
            </a:r>
            <a:r>
              <a:rPr lang="en-US" altLang="ko-KR" sz="1400" b="1">
                <a:solidFill>
                  <a:srgbClr val="06D6A0"/>
                </a:solidFill>
                <a:latin typeface="Pretendard"/>
              </a:rPr>
              <a:t>: </a:t>
            </a:r>
            <a:r>
              <a:rPr lang="ko-KR" altLang="en-US" sz="1400" b="1">
                <a:solidFill>
                  <a:srgbClr val="06D6A0"/>
                </a:solidFill>
                <a:latin typeface="Pretendard"/>
              </a:rPr>
              <a:t>클라우드 흐름 </a:t>
            </a:r>
            <a:r>
              <a:rPr lang="en-US" altLang="ko-KR" sz="1400" b="1">
                <a:solidFill>
                  <a:srgbClr val="06D6A0"/>
                </a:solidFill>
                <a:latin typeface="Pretendard"/>
              </a:rPr>
              <a:t>+ Copilot Studio </a:t>
            </a:r>
            <a:r>
              <a:rPr lang="ko-KR" altLang="en-US" sz="1400" b="1">
                <a:solidFill>
                  <a:srgbClr val="06D6A0"/>
                </a:solidFill>
                <a:latin typeface="Pretendard"/>
              </a:rPr>
              <a:t>조합을 다룹니다</a:t>
            </a:r>
          </a:p>
        </p:txBody>
      </p:sp>
    </p:spTree>
    <p:extLst>
      <p:ext uri="{BB962C8B-B14F-4D97-AF65-F5344CB8AC3E}">
        <p14:creationId xmlns:p14="http://schemas.microsoft.com/office/powerpoint/2010/main" val="369334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1CCF6CE-CE00-4B39-94E7-28AA79BB0D0E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F1F0F-1EEB-450C-8CCC-5CA4B28819A7}"/>
              </a:ext>
            </a:extLst>
          </p:cNvPr>
          <p:cNvSpPr txBox="1"/>
          <p:nvPr/>
        </p:nvSpPr>
        <p:spPr>
          <a:xfrm>
            <a:off x="1016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TODAY'S SCOPE</a:t>
            </a:r>
            <a:endParaRPr lang="ko-KR" altLang="en-US" sz="13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06565-17EA-4F0C-80A0-417583A548FD}"/>
              </a:ext>
            </a:extLst>
          </p:cNvPr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2800" b="1">
                <a:solidFill>
                  <a:srgbClr val="FFFFFF"/>
                </a:solidFill>
                <a:latin typeface="Pretendard"/>
              </a:rPr>
              <a:t>오늘 배울 위치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6844A-31A1-4CB7-8A0C-E4793691508D}"/>
              </a:ext>
            </a:extLst>
          </p:cNvPr>
          <p:cNvSpPr txBox="1"/>
          <p:nvPr/>
        </p:nvSpPr>
        <p:spPr>
          <a:xfrm>
            <a:off x="1016000" y="13716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>
                <a:solidFill>
                  <a:srgbClr val="A8B2D8"/>
                </a:solidFill>
                <a:latin typeface="Pretendard"/>
              </a:rPr>
              <a:t>전체 </a:t>
            </a:r>
            <a:r>
              <a:rPr lang="en-US" altLang="ko-KR" sz="1400">
                <a:solidFill>
                  <a:srgbClr val="A8B2D8"/>
                </a:solidFill>
                <a:latin typeface="Pretendard"/>
              </a:rPr>
              <a:t>MS AI </a:t>
            </a:r>
            <a:r>
              <a:rPr lang="ko-KR" altLang="en-US" sz="1400">
                <a:solidFill>
                  <a:srgbClr val="A8B2D8"/>
                </a:solidFill>
                <a:latin typeface="Pretendard"/>
              </a:rPr>
              <a:t>생태계에서 여러분이 오늘 다룰 영역입니다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4CBFF3-36B4-4561-AEB2-D2A0F2D48CED}"/>
              </a:ext>
            </a:extLst>
          </p:cNvPr>
          <p:cNvSpPr/>
          <p:nvPr/>
        </p:nvSpPr>
        <p:spPr>
          <a:xfrm>
            <a:off x="1016000" y="1905000"/>
            <a:ext cx="6858000" cy="787400"/>
          </a:xfrm>
          <a:prstGeom prst="roundRect">
            <a:avLst/>
          </a:prstGeom>
          <a:solidFill>
            <a:srgbClr val="0A0F1E"/>
          </a:solidFill>
          <a:ln w="12700" cap="flat" cmpd="sng" algn="ctr">
            <a:solidFill>
              <a:srgbClr val="1A204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0D9966-C9CA-408B-835F-9F6107AC4B9F}"/>
              </a:ext>
            </a:extLst>
          </p:cNvPr>
          <p:cNvSpPr/>
          <p:nvPr/>
        </p:nvSpPr>
        <p:spPr>
          <a:xfrm>
            <a:off x="1016000" y="1905000"/>
            <a:ext cx="101600" cy="7874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D2501-A2AC-4E59-A501-789B8213F402}"/>
              </a:ext>
            </a:extLst>
          </p:cNvPr>
          <p:cNvSpPr txBox="1"/>
          <p:nvPr/>
        </p:nvSpPr>
        <p:spPr>
          <a:xfrm>
            <a:off x="1320800" y="20193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 b="1">
                <a:solidFill>
                  <a:srgbClr val="4D5FA0"/>
                </a:solidFill>
                <a:latin typeface="Pretendard"/>
              </a:rPr>
              <a:t>Azure AI Foundry</a:t>
            </a:r>
            <a:endParaRPr lang="ko-KR" altLang="en-US" sz="1400" b="1">
              <a:solidFill>
                <a:srgbClr val="4D5FA0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B1B08-0FD7-4471-AA59-50B91E7359EC}"/>
              </a:ext>
            </a:extLst>
          </p:cNvPr>
          <p:cNvSpPr txBox="1"/>
          <p:nvPr/>
        </p:nvSpPr>
        <p:spPr>
          <a:xfrm>
            <a:off x="1320800" y="23241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4D5FA0"/>
                </a:solidFill>
                <a:latin typeface="Pretendard"/>
              </a:rPr>
              <a:t>모델 파인튜닝 </a:t>
            </a:r>
            <a:r>
              <a:rPr lang="en-US" altLang="ko-KR" sz="1100">
                <a:solidFill>
                  <a:srgbClr val="4D5FA0"/>
                </a:solidFill>
                <a:latin typeface="Pretendard"/>
              </a:rPr>
              <a:t>· RAG · 1900+ </a:t>
            </a:r>
            <a:r>
              <a:rPr lang="ko-KR" altLang="en-US" sz="1100">
                <a:solidFill>
                  <a:srgbClr val="4D5FA0"/>
                </a:solidFill>
                <a:latin typeface="Pretendard"/>
              </a:rPr>
              <a:t>모델 </a:t>
            </a:r>
            <a:r>
              <a:rPr lang="en-US" altLang="ko-KR" sz="1100">
                <a:solidFill>
                  <a:srgbClr val="4D5FA0"/>
                </a:solidFill>
                <a:latin typeface="Pretendard"/>
              </a:rPr>
              <a:t>· </a:t>
            </a:r>
            <a:r>
              <a:rPr lang="ko-KR" altLang="en-US" sz="1100">
                <a:solidFill>
                  <a:srgbClr val="4D5FA0"/>
                </a:solidFill>
                <a:latin typeface="Pretendard"/>
              </a:rPr>
              <a:t>오늘 스코프 밖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E063A23-326A-4C28-BB4F-B6CABD5C6EC9}"/>
              </a:ext>
            </a:extLst>
          </p:cNvPr>
          <p:cNvSpPr/>
          <p:nvPr/>
        </p:nvSpPr>
        <p:spPr>
          <a:xfrm>
            <a:off x="1016000" y="2768600"/>
            <a:ext cx="6858000" cy="787400"/>
          </a:xfrm>
          <a:prstGeom prst="roundRect">
            <a:avLst/>
          </a:prstGeom>
          <a:solidFill>
            <a:srgbClr val="1A1F4A"/>
          </a:solidFill>
          <a:ln w="3810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B5C8F4-0141-4A34-8821-131F10C8873C}"/>
              </a:ext>
            </a:extLst>
          </p:cNvPr>
          <p:cNvSpPr/>
          <p:nvPr/>
        </p:nvSpPr>
        <p:spPr>
          <a:xfrm>
            <a:off x="1016000" y="2768600"/>
            <a:ext cx="152400" cy="7874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81CFE6-3017-4929-BB75-BAB6741E5947}"/>
              </a:ext>
            </a:extLst>
          </p:cNvPr>
          <p:cNvSpPr txBox="1"/>
          <p:nvPr/>
        </p:nvSpPr>
        <p:spPr>
          <a:xfrm>
            <a:off x="1346200" y="28829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 b="1">
                <a:solidFill>
                  <a:srgbClr val="06D6A0"/>
                </a:solidFill>
                <a:latin typeface="Pretendard"/>
              </a:rPr>
              <a:t>★ Copilot Studio</a:t>
            </a:r>
            <a:endParaRPr lang="ko-KR" altLang="en-US" sz="16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25243-B2B5-4957-87A9-25229693C417}"/>
              </a:ext>
            </a:extLst>
          </p:cNvPr>
          <p:cNvSpPr txBox="1"/>
          <p:nvPr/>
        </p:nvSpPr>
        <p:spPr>
          <a:xfrm>
            <a:off x="1346200" y="32131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FFFFFF"/>
                </a:solidFill>
                <a:latin typeface="Pretendard"/>
              </a:rPr>
              <a:t>흐름 </a:t>
            </a:r>
            <a:r>
              <a:rPr lang="en-US" altLang="ko-KR" sz="1100">
                <a:solidFill>
                  <a:srgbClr val="FFFFFF"/>
                </a:solidFill>
                <a:latin typeface="Pretendard"/>
              </a:rPr>
              <a:t>+ </a:t>
            </a:r>
            <a:r>
              <a:rPr lang="ko-KR" altLang="en-US" sz="1100">
                <a:solidFill>
                  <a:srgbClr val="FFFFFF"/>
                </a:solidFill>
                <a:latin typeface="Pretendard"/>
              </a:rPr>
              <a:t>커넥터 </a:t>
            </a:r>
            <a:r>
              <a:rPr lang="en-US" altLang="ko-KR" sz="1100">
                <a:solidFill>
                  <a:srgbClr val="FFFFFF"/>
                </a:solidFill>
                <a:latin typeface="Pretendard"/>
              </a:rPr>
              <a:t>+ </a:t>
            </a:r>
            <a:r>
              <a:rPr lang="ko-KR" altLang="en-US" sz="1100">
                <a:solidFill>
                  <a:srgbClr val="FFFFFF"/>
                </a:solidFill>
                <a:latin typeface="Pretendard"/>
              </a:rPr>
              <a:t>외부 </a:t>
            </a:r>
            <a:r>
              <a:rPr lang="en-US" altLang="ko-KR" sz="1100">
                <a:solidFill>
                  <a:srgbClr val="FFFFFF"/>
                </a:solidFill>
                <a:latin typeface="Pretendard"/>
              </a:rPr>
              <a:t>API + </a:t>
            </a:r>
            <a:r>
              <a:rPr lang="ko-KR" altLang="en-US" sz="1100">
                <a:solidFill>
                  <a:srgbClr val="FFFFFF"/>
                </a:solidFill>
                <a:latin typeface="Pretendard"/>
              </a:rPr>
              <a:t>거버넌스 </a:t>
            </a:r>
            <a:r>
              <a:rPr lang="en-US" altLang="ko-KR" sz="110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100">
                <a:solidFill>
                  <a:srgbClr val="FFFFFF"/>
                </a:solidFill>
                <a:latin typeface="Pretendard"/>
              </a:rPr>
              <a:t>오늘의 주인공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142E73-6D47-4870-B4B6-2651093518CF}"/>
              </a:ext>
            </a:extLst>
          </p:cNvPr>
          <p:cNvSpPr txBox="1"/>
          <p:nvPr/>
        </p:nvSpPr>
        <p:spPr>
          <a:xfrm>
            <a:off x="5969000" y="28829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 b="1">
                <a:solidFill>
                  <a:srgbClr val="06D6A0"/>
                </a:solidFill>
                <a:latin typeface="Pretendard"/>
              </a:rPr>
              <a:t>★ 오늘의 주인공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CDE7EC-5C4E-424C-8F61-6AE30AC68A1A}"/>
              </a:ext>
            </a:extLst>
          </p:cNvPr>
          <p:cNvSpPr/>
          <p:nvPr/>
        </p:nvSpPr>
        <p:spPr>
          <a:xfrm>
            <a:off x="1016000" y="3632200"/>
            <a:ext cx="6858000" cy="787400"/>
          </a:xfrm>
          <a:prstGeom prst="roundRect">
            <a:avLst/>
          </a:prstGeom>
          <a:solidFill>
            <a:srgbClr val="0A0F1E"/>
          </a:solidFill>
          <a:ln w="12700" cap="flat" cmpd="sng" algn="ctr">
            <a:solidFill>
              <a:srgbClr val="1A204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EE7EA5-4B2C-4564-934E-08C9F1DD3413}"/>
              </a:ext>
            </a:extLst>
          </p:cNvPr>
          <p:cNvSpPr/>
          <p:nvPr/>
        </p:nvSpPr>
        <p:spPr>
          <a:xfrm>
            <a:off x="1016000" y="3632200"/>
            <a:ext cx="101600" cy="7874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BC14EF-E327-442C-B541-38AA6E9EDA7C}"/>
              </a:ext>
            </a:extLst>
          </p:cNvPr>
          <p:cNvSpPr txBox="1"/>
          <p:nvPr/>
        </p:nvSpPr>
        <p:spPr>
          <a:xfrm>
            <a:off x="1320800" y="37465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 b="1">
                <a:solidFill>
                  <a:srgbClr val="4D5FA0"/>
                </a:solidFill>
                <a:latin typeface="Pretendard"/>
              </a:rPr>
              <a:t>Copilot Cowork</a:t>
            </a:r>
            <a:endParaRPr lang="ko-KR" altLang="en-US" sz="1400" b="1">
              <a:solidFill>
                <a:srgbClr val="4D5FA0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98FB21-EB2C-4E6A-9DC1-50543C3C1A67}"/>
              </a:ext>
            </a:extLst>
          </p:cNvPr>
          <p:cNvSpPr txBox="1"/>
          <p:nvPr/>
        </p:nvSpPr>
        <p:spPr>
          <a:xfrm>
            <a:off x="1320800" y="40513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4D5FA0"/>
                </a:solidFill>
                <a:latin typeface="Pretendard"/>
              </a:rPr>
              <a:t>테넌트 내 파일 자동화 </a:t>
            </a:r>
            <a:r>
              <a:rPr lang="en-US" altLang="ko-KR" sz="1100">
                <a:solidFill>
                  <a:srgbClr val="4D5FA0"/>
                </a:solidFill>
                <a:latin typeface="Pretendard"/>
              </a:rPr>
              <a:t>· Claude </a:t>
            </a:r>
            <a:r>
              <a:rPr lang="ko-KR" altLang="en-US" sz="1100">
                <a:solidFill>
                  <a:srgbClr val="4D5FA0"/>
                </a:solidFill>
                <a:latin typeface="Pretendard"/>
              </a:rPr>
              <a:t>모델 탑재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3B74E8E-2E70-4B7F-93EF-A8A4A9ED7E45}"/>
              </a:ext>
            </a:extLst>
          </p:cNvPr>
          <p:cNvSpPr/>
          <p:nvPr/>
        </p:nvSpPr>
        <p:spPr>
          <a:xfrm>
            <a:off x="1016000" y="4495800"/>
            <a:ext cx="6858000" cy="787400"/>
          </a:xfrm>
          <a:prstGeom prst="roundRect">
            <a:avLst/>
          </a:prstGeom>
          <a:solidFill>
            <a:srgbClr val="0A0F1E"/>
          </a:solidFill>
          <a:ln w="12700" cap="flat" cmpd="sng" algn="ctr">
            <a:solidFill>
              <a:srgbClr val="1A204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A0BECD-B0AF-49D8-BDB7-3CE81C7AFF51}"/>
              </a:ext>
            </a:extLst>
          </p:cNvPr>
          <p:cNvSpPr/>
          <p:nvPr/>
        </p:nvSpPr>
        <p:spPr>
          <a:xfrm>
            <a:off x="1016000" y="4495800"/>
            <a:ext cx="101600" cy="7874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5641ED-51F4-4709-914C-58348FE5FFD6}"/>
              </a:ext>
            </a:extLst>
          </p:cNvPr>
          <p:cNvSpPr txBox="1"/>
          <p:nvPr/>
        </p:nvSpPr>
        <p:spPr>
          <a:xfrm>
            <a:off x="1320800" y="46101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 b="1">
                <a:solidFill>
                  <a:srgbClr val="4D5FA0"/>
                </a:solidFill>
                <a:latin typeface="Pretendard"/>
              </a:rPr>
              <a:t>App Builder (Frontier)</a:t>
            </a:r>
            <a:endParaRPr lang="ko-KR" altLang="en-US" sz="1400" b="1">
              <a:solidFill>
                <a:srgbClr val="4D5FA0"/>
              </a:solidFill>
              <a:latin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A84AC6-DDEB-49FB-A614-2EFBFEE35F5A}"/>
              </a:ext>
            </a:extLst>
          </p:cNvPr>
          <p:cNvSpPr txBox="1"/>
          <p:nvPr/>
        </p:nvSpPr>
        <p:spPr>
          <a:xfrm>
            <a:off x="1320800" y="49149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4D5FA0"/>
                </a:solidFill>
                <a:latin typeface="Pretendard"/>
              </a:rPr>
              <a:t>자연어로 인터랙티브 앱 생성 </a:t>
            </a:r>
            <a:r>
              <a:rPr lang="en-US" altLang="ko-KR" sz="1100">
                <a:solidFill>
                  <a:srgbClr val="4D5FA0"/>
                </a:solidFill>
                <a:latin typeface="Pretendard"/>
              </a:rPr>
              <a:t>· GA </a:t>
            </a:r>
            <a:r>
              <a:rPr lang="ko-KR" altLang="en-US" sz="1100">
                <a:solidFill>
                  <a:srgbClr val="4D5FA0"/>
                </a:solidFill>
                <a:latin typeface="Pretendard"/>
              </a:rPr>
              <a:t>예정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9A61CE2-AE8A-4323-9D90-BDACF0CE5B8B}"/>
              </a:ext>
            </a:extLst>
          </p:cNvPr>
          <p:cNvSpPr/>
          <p:nvPr/>
        </p:nvSpPr>
        <p:spPr>
          <a:xfrm>
            <a:off x="5029200" y="4724400"/>
            <a:ext cx="2667000" cy="330200"/>
          </a:xfrm>
          <a:prstGeom prst="round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503E3F-36E3-4C2D-AA85-9FC24FA3EDD9}"/>
              </a:ext>
            </a:extLst>
          </p:cNvPr>
          <p:cNvSpPr txBox="1"/>
          <p:nvPr/>
        </p:nvSpPr>
        <p:spPr>
          <a:xfrm>
            <a:off x="5029200" y="4724400"/>
            <a:ext cx="26670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Pretendard"/>
              </a:rPr>
              <a:t>Power Automate Cloud Flows</a:t>
            </a:r>
            <a:r>
              <a:rPr lang="ko-KR" altLang="en-US" sz="1100" b="1">
                <a:solidFill>
                  <a:srgbClr val="FFFFFF"/>
                </a:solidFill>
                <a:latin typeface="Pretendard"/>
              </a:rPr>
              <a:t>도 함께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14901F7-EE5C-4544-9591-D00AAF01975E}"/>
              </a:ext>
            </a:extLst>
          </p:cNvPr>
          <p:cNvSpPr/>
          <p:nvPr/>
        </p:nvSpPr>
        <p:spPr>
          <a:xfrm>
            <a:off x="1016000" y="5359400"/>
            <a:ext cx="6858000" cy="787400"/>
          </a:xfrm>
          <a:prstGeom prst="roundRect">
            <a:avLst/>
          </a:prstGeom>
          <a:solidFill>
            <a:srgbClr val="0A0F1E"/>
          </a:solidFill>
          <a:ln w="12700" cap="flat" cmpd="sng" algn="ctr">
            <a:solidFill>
              <a:srgbClr val="1A204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0DA5256-09CD-4DF4-91D1-ADF5BC845495}"/>
              </a:ext>
            </a:extLst>
          </p:cNvPr>
          <p:cNvSpPr/>
          <p:nvPr/>
        </p:nvSpPr>
        <p:spPr>
          <a:xfrm>
            <a:off x="1016000" y="5359400"/>
            <a:ext cx="101600" cy="7874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97C766-DE83-470C-8E39-A3E4BFE160F1}"/>
              </a:ext>
            </a:extLst>
          </p:cNvPr>
          <p:cNvSpPr txBox="1"/>
          <p:nvPr/>
        </p:nvSpPr>
        <p:spPr>
          <a:xfrm>
            <a:off x="1320800" y="54737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400" b="1">
                <a:solidFill>
                  <a:srgbClr val="4D5FA0"/>
                </a:solidFill>
                <a:latin typeface="Pretendard"/>
              </a:rPr>
              <a:t>M365 Agent Builder</a:t>
            </a:r>
            <a:endParaRPr lang="ko-KR" altLang="en-US" sz="1400" b="1">
              <a:solidFill>
                <a:srgbClr val="4D5FA0"/>
              </a:solidFill>
              <a:latin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54FC3C-3BC9-4389-AF9A-F978FD6F00B4}"/>
              </a:ext>
            </a:extLst>
          </p:cNvPr>
          <p:cNvSpPr txBox="1"/>
          <p:nvPr/>
        </p:nvSpPr>
        <p:spPr>
          <a:xfrm>
            <a:off x="1320800" y="57785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4D5FA0"/>
                </a:solidFill>
                <a:latin typeface="Pretendard"/>
              </a:rPr>
              <a:t>선언형 에이전트 </a:t>
            </a:r>
            <a:r>
              <a:rPr lang="en-US" altLang="ko-KR" sz="1100">
                <a:solidFill>
                  <a:srgbClr val="4D5FA0"/>
                </a:solidFill>
                <a:latin typeface="Pretendard"/>
              </a:rPr>
              <a:t>· 5</a:t>
            </a:r>
            <a:r>
              <a:rPr lang="ko-KR" altLang="en-US" sz="1100">
                <a:solidFill>
                  <a:srgbClr val="4D5FA0"/>
                </a:solidFill>
                <a:latin typeface="Pretendard"/>
              </a:rPr>
              <a:t>분 셋업 </a:t>
            </a:r>
            <a:r>
              <a:rPr lang="en-US" altLang="ko-KR" sz="1100">
                <a:solidFill>
                  <a:srgbClr val="4D5FA0"/>
                </a:solidFill>
                <a:latin typeface="Pretendard"/>
              </a:rPr>
              <a:t>· </a:t>
            </a:r>
            <a:r>
              <a:rPr lang="ko-KR" altLang="en-US" sz="1100">
                <a:solidFill>
                  <a:srgbClr val="4D5FA0"/>
                </a:solidFill>
                <a:latin typeface="Pretendard"/>
              </a:rPr>
              <a:t>로직 없음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94DAB3-C9C2-4C81-98A7-984B0C2017BB}"/>
              </a:ext>
            </a:extLst>
          </p:cNvPr>
          <p:cNvSpPr txBox="1"/>
          <p:nvPr/>
        </p:nvSpPr>
        <p:spPr>
          <a:xfrm>
            <a:off x="8128000" y="28956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600" b="1">
                <a:solidFill>
                  <a:srgbClr val="06D6A0"/>
                </a:solidFill>
                <a:latin typeface="Pretendard"/>
              </a:rPr>
              <a:t>여기까지</a:t>
            </a:r>
            <a:r>
              <a:rPr lang="en-US" altLang="ko-KR" sz="1600" b="1">
                <a:solidFill>
                  <a:srgbClr val="06D6A0"/>
                </a:solidFill>
                <a:latin typeface="Pretendard"/>
              </a:rPr>
              <a:t>!</a:t>
            </a:r>
            <a:endParaRPr lang="ko-KR" altLang="en-US" sz="16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14AF85-C879-4D03-9736-D58F031B5A9A}"/>
              </a:ext>
            </a:extLst>
          </p:cNvPr>
          <p:cNvSpPr txBox="1"/>
          <p:nvPr/>
        </p:nvSpPr>
        <p:spPr>
          <a:xfrm>
            <a:off x="1016000" y="6375400"/>
            <a:ext cx="889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6B7BA4"/>
                </a:solidFill>
                <a:latin typeface="Pretendard"/>
              </a:rPr>
              <a:t>강의 후 다음 단계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(Azure AI Foundry 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등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)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로 확장할 기반이 됩니다</a:t>
            </a:r>
          </a:p>
        </p:txBody>
      </p:sp>
    </p:spTree>
    <p:extLst>
      <p:ext uri="{BB962C8B-B14F-4D97-AF65-F5344CB8AC3E}">
        <p14:creationId xmlns:p14="http://schemas.microsoft.com/office/powerpoint/2010/main" val="97130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016000" y="508000"/>
            <a:ext cx="6350000" cy="279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rgbClr val="06D6A0"/>
                </a:solidFill>
                <a:latin typeface="Pretendard"/>
              </a:rPr>
              <a:t>BEFORE YOU START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오늘 쓰는 세 가지 도구, 이렇게 나눠 씁니다</a:t>
            </a:r>
          </a:p>
        </p:txBody>
      </p:sp>
      <p:sp>
        <p:nvSpPr>
          <p:cNvPr id="14" name="Shape 14"/>
          <p:cNvSpPr/>
          <p:nvPr/>
        </p:nvSpPr>
        <p:spPr>
          <a:xfrm>
            <a:off x="1016000" y="1422400"/>
            <a:ext cx="10160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" name="Shape 15"/>
          <p:cNvSpPr/>
          <p:nvPr/>
        </p:nvSpPr>
        <p:spPr>
          <a:xfrm>
            <a:off x="1016000" y="1778000"/>
            <a:ext cx="3175000" cy="3175000"/>
          </a:xfrm>
          <a:prstGeom prst="roundRect">
            <a:avLst/>
          </a:prstGeom>
          <a:solidFill>
            <a:srgbClr val="0D1A3A"/>
          </a:solidFill>
          <a:ln w="25400">
            <a:solidFill>
              <a:srgbClr val="4361E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Box 16"/>
          <p:cNvSpPr txBox="1"/>
          <p:nvPr/>
        </p:nvSpPr>
        <p:spPr>
          <a:xfrm>
            <a:off x="1295400" y="1981200"/>
            <a:ext cx="2667000" cy="355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SharePoint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5400" y="2362200"/>
            <a:ext cx="2667000" cy="254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4361EE"/>
                </a:solidFill>
                <a:latin typeface="Pretendard"/>
              </a:rPr>
              <a:t>데이터가 사는 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5400" y="2819400"/>
            <a:ext cx="2641600" cy="1524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4361EE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지원자 목록·이력서 저장</a:t>
            </a:r>
          </a:p>
          <a:p>
            <a:pPr algn="l">
              <a:spcBef>
                <a:spcPts val="1500"/>
              </a:spcBef>
              <a:buNone/>
            </a:pPr>
            <a:r>
              <a:rPr lang="ko-KR" altLang="en-US" sz="1400" b="0" dirty="0">
                <a:solidFill>
                  <a:srgbClr val="4361EE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컬럼이 곧 데이터 구조</a:t>
            </a:r>
          </a:p>
          <a:p>
            <a:pPr algn="l">
              <a:spcBef>
                <a:spcPts val="1500"/>
              </a:spcBef>
              <a:buNone/>
            </a:pPr>
            <a:r>
              <a:rPr lang="ko-KR" altLang="en-US" sz="1400" b="0" dirty="0">
                <a:solidFill>
                  <a:srgbClr val="4361EE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승인 상태도 여기에 기록</a:t>
            </a:r>
          </a:p>
        </p:txBody>
      </p:sp>
      <p:sp>
        <p:nvSpPr>
          <p:cNvPr id="19" name="Shape 19"/>
          <p:cNvSpPr/>
          <p:nvPr/>
        </p:nvSpPr>
        <p:spPr>
          <a:xfrm>
            <a:off x="1295400" y="4140200"/>
            <a:ext cx="2616200" cy="406400"/>
          </a:xfrm>
          <a:prstGeom prst="roundRect">
            <a:avLst/>
          </a:prstGeom>
          <a:solidFill>
            <a:srgbClr val="4361EE"/>
          </a:solidFill>
          <a:ln w="12700">
            <a:solidFill>
              <a:srgbClr val="4361EE"/>
            </a:solidFill>
          </a:ln>
        </p:spPr>
        <p:txBody>
          <a:bodyPr wrap="square" anchor="ctr">
            <a:noAutofit/>
          </a:bodyPr>
          <a:lstStyle/>
          <a:p>
            <a:endParaRPr lang="ko-KR"/>
          </a:p>
        </p:txBody>
      </p:sp>
      <p:sp>
        <p:nvSpPr>
          <p:cNvPr id="20" name="TextBox 20"/>
          <p:cNvSpPr txBox="1"/>
          <p:nvPr/>
        </p:nvSpPr>
        <p:spPr>
          <a:xfrm>
            <a:off x="1295400" y="4140200"/>
            <a:ext cx="2616200" cy="406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"/>
              </a:rPr>
              <a:t>남겨야 하면 → SharePoint</a:t>
            </a:r>
          </a:p>
        </p:txBody>
      </p:sp>
      <p:sp>
        <p:nvSpPr>
          <p:cNvPr id="21" name="Shape 21"/>
          <p:cNvSpPr/>
          <p:nvPr/>
        </p:nvSpPr>
        <p:spPr>
          <a:xfrm>
            <a:off x="4508500" y="1778000"/>
            <a:ext cx="3175000" cy="3175000"/>
          </a:xfrm>
          <a:prstGeom prst="roundRect">
            <a:avLst/>
          </a:prstGeom>
          <a:solidFill>
            <a:srgbClr val="0D1A3A"/>
          </a:solidFill>
          <a:ln w="25400">
            <a:solidFill>
              <a:srgbClr val="06D6A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TextBox 22"/>
          <p:cNvSpPr txBox="1"/>
          <p:nvPr/>
        </p:nvSpPr>
        <p:spPr>
          <a:xfrm>
            <a:off x="4787900" y="1981200"/>
            <a:ext cx="2667000" cy="355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Power Automate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87900" y="2362200"/>
            <a:ext cx="2667000" cy="254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06D6A0"/>
                </a:solidFill>
                <a:latin typeface="Pretendard"/>
              </a:rPr>
              <a:t>상태를 바꾸는 곳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87900" y="2819400"/>
            <a:ext cx="2641600" cy="1524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06D6A0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트리거로 시작 (메일 수신 등)</a:t>
            </a:r>
          </a:p>
          <a:p>
            <a:pPr algn="l">
              <a:spcBef>
                <a:spcPts val="1500"/>
              </a:spcBef>
              <a:buNone/>
            </a:pPr>
            <a:r>
              <a:rPr lang="ko-KR" altLang="en-US" sz="1400" b="0" dirty="0">
                <a:solidFill>
                  <a:srgbClr val="06D6A0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여러 컬럼을 한 번에 갱신</a:t>
            </a:r>
          </a:p>
          <a:p>
            <a:pPr algn="l">
              <a:spcBef>
                <a:spcPts val="1500"/>
              </a:spcBef>
              <a:buNone/>
            </a:pPr>
            <a:r>
              <a:rPr lang="ko-KR" altLang="en-US" sz="1400" b="0" dirty="0">
                <a:solidFill>
                  <a:srgbClr val="06D6A0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사람 승인을 기다리고 재개</a:t>
            </a:r>
          </a:p>
        </p:txBody>
      </p:sp>
      <p:sp>
        <p:nvSpPr>
          <p:cNvPr id="25" name="Shape 25"/>
          <p:cNvSpPr/>
          <p:nvPr/>
        </p:nvSpPr>
        <p:spPr>
          <a:xfrm>
            <a:off x="4787900" y="4140200"/>
            <a:ext cx="2616200" cy="406400"/>
          </a:xfrm>
          <a:prstGeom prst="roundRect">
            <a:avLst/>
          </a:prstGeom>
          <a:solidFill>
            <a:srgbClr val="06D6A0"/>
          </a:solidFill>
          <a:ln w="12700">
            <a:solidFill>
              <a:srgbClr val="06D6A0"/>
            </a:solidFill>
          </a:ln>
        </p:spPr>
        <p:txBody>
          <a:bodyPr wrap="square" anchor="ctr">
            <a:noAutofit/>
          </a:bodyPr>
          <a:lstStyle/>
          <a:p>
            <a:endParaRPr lang="ko-KR"/>
          </a:p>
        </p:txBody>
      </p:sp>
      <p:sp>
        <p:nvSpPr>
          <p:cNvPr id="26" name="TextBox 26"/>
          <p:cNvSpPr txBox="1"/>
          <p:nvPr/>
        </p:nvSpPr>
        <p:spPr>
          <a:xfrm>
            <a:off x="4787900" y="4140200"/>
            <a:ext cx="2616200" cy="406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200" b="1" dirty="0">
                <a:solidFill>
                  <a:srgbClr val="0F1535"/>
                </a:solidFill>
                <a:latin typeface="Pretendard"/>
              </a:rPr>
              <a:t>바꿔야 하면 → 흐름</a:t>
            </a:r>
          </a:p>
        </p:txBody>
      </p:sp>
      <p:sp>
        <p:nvSpPr>
          <p:cNvPr id="27" name="Shape 27"/>
          <p:cNvSpPr/>
          <p:nvPr/>
        </p:nvSpPr>
        <p:spPr>
          <a:xfrm>
            <a:off x="8001000" y="1778000"/>
            <a:ext cx="3175000" cy="3175000"/>
          </a:xfrm>
          <a:prstGeom prst="roundRect">
            <a:avLst/>
          </a:prstGeom>
          <a:solidFill>
            <a:srgbClr val="0D1A3A"/>
          </a:solidFill>
          <a:ln w="25400">
            <a:solidFill>
              <a:srgbClr val="7B2FB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8" name="TextBox 28"/>
          <p:cNvSpPr txBox="1"/>
          <p:nvPr/>
        </p:nvSpPr>
        <p:spPr>
          <a:xfrm>
            <a:off x="8280400" y="1981200"/>
            <a:ext cx="2667000" cy="355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Copilot Studio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80400" y="2362200"/>
            <a:ext cx="2667000" cy="254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B388F0"/>
                </a:solidFill>
                <a:latin typeface="Pretendard"/>
              </a:rPr>
              <a:t>묻고 답하는 곳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0400" y="2819400"/>
            <a:ext cx="2641600" cy="1524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B388F0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지식·커넥터로 데이터 조회</a:t>
            </a:r>
          </a:p>
          <a:p>
            <a:pPr algn="l">
              <a:spcBef>
                <a:spcPts val="1500"/>
              </a:spcBef>
              <a:buNone/>
            </a:pPr>
            <a:r>
              <a:rPr lang="ko-KR" altLang="en-US" sz="1400" b="0" dirty="0">
                <a:solidFill>
                  <a:srgbClr val="B388F0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요약과 적합도를 추론</a:t>
            </a:r>
          </a:p>
          <a:p>
            <a:pPr algn="l">
              <a:spcBef>
                <a:spcPts val="1500"/>
              </a:spcBef>
              <a:buNone/>
            </a:pPr>
            <a:r>
              <a:rPr lang="ko-KR" altLang="en-US" sz="1400" b="0" dirty="0">
                <a:solidFill>
                  <a:srgbClr val="B388F0"/>
                </a:solidFill>
                <a:latin typeface="Pretendard"/>
              </a:rPr>
              <a:t>•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대화 중 사람에게 확인 요청</a:t>
            </a:r>
          </a:p>
        </p:txBody>
      </p:sp>
      <p:sp>
        <p:nvSpPr>
          <p:cNvPr id="31" name="Shape 31"/>
          <p:cNvSpPr/>
          <p:nvPr/>
        </p:nvSpPr>
        <p:spPr>
          <a:xfrm>
            <a:off x="8280400" y="4140200"/>
            <a:ext cx="2616200" cy="406400"/>
          </a:xfrm>
          <a:prstGeom prst="roundRect">
            <a:avLst/>
          </a:prstGeom>
          <a:solidFill>
            <a:srgbClr val="B388F0"/>
          </a:solidFill>
          <a:ln w="12700">
            <a:solidFill>
              <a:srgbClr val="7B2FBE"/>
            </a:solidFill>
          </a:ln>
        </p:spPr>
        <p:txBody>
          <a:bodyPr wrap="square" anchor="ctr">
            <a:noAutofit/>
          </a:bodyPr>
          <a:lstStyle/>
          <a:p>
            <a:endParaRPr lang="ko-KR"/>
          </a:p>
        </p:txBody>
      </p:sp>
      <p:sp>
        <p:nvSpPr>
          <p:cNvPr id="32" name="TextBox 32"/>
          <p:cNvSpPr txBox="1"/>
          <p:nvPr/>
        </p:nvSpPr>
        <p:spPr>
          <a:xfrm>
            <a:off x="8280400" y="4140200"/>
            <a:ext cx="2616200" cy="406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200" b="1" dirty="0">
                <a:solidFill>
                  <a:srgbClr val="0F1535"/>
                </a:solidFill>
                <a:latin typeface="Pretendard"/>
              </a:rPr>
              <a:t>읽고 판단하면 → 에이전트</a:t>
            </a:r>
          </a:p>
        </p:txBody>
      </p:sp>
      <p:sp>
        <p:nvSpPr>
          <p:cNvPr id="33" name="Shape 33"/>
          <p:cNvSpPr/>
          <p:nvPr/>
        </p:nvSpPr>
        <p:spPr>
          <a:xfrm>
            <a:off x="1016000" y="5715000"/>
            <a:ext cx="10160000" cy="584200"/>
          </a:xfrm>
          <a:prstGeom prst="roundRect">
            <a:avLst/>
          </a:prstGeom>
          <a:solidFill>
            <a:srgbClr val="101C3D"/>
          </a:solidFill>
          <a:ln w="19050">
            <a:solidFill>
              <a:srgbClr val="4361E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4" name="TextBox 34"/>
          <p:cNvSpPr txBox="1"/>
          <p:nvPr/>
        </p:nvSpPr>
        <p:spPr>
          <a:xfrm>
            <a:off x="1016000" y="5715000"/>
            <a:ext cx="10160000" cy="584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A8B2D8"/>
                </a:solidFill>
                <a:latin typeface="Pretendard"/>
              </a:rPr>
              <a:t>판단 기준 한 줄 — 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읽고 해석은 에이전트 · 상태 변경은 흐름 · 기록은 SharePoint</a:t>
            </a:r>
          </a:p>
        </p:txBody>
      </p:sp>
    </p:spTree>
    <p:extLst>
      <p:ext uri="{BB962C8B-B14F-4D97-AF65-F5344CB8AC3E}">
        <p14:creationId xmlns:p14="http://schemas.microsoft.com/office/powerpoint/2010/main" val="3053309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16000" y="508000"/>
            <a:ext cx="6350000" cy="279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rgbClr val="06D6A0"/>
                </a:solidFill>
                <a:latin typeface="Pretendard"/>
              </a:rPr>
              <a:t>COURSE FRAME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이 과정의 두 가지 질문</a:t>
            </a:r>
          </a:p>
        </p:txBody>
      </p:sp>
      <p:sp>
        <p:nvSpPr>
          <p:cNvPr id="13" name="Shape 13"/>
          <p:cNvSpPr/>
          <p:nvPr/>
        </p:nvSpPr>
        <p:spPr>
          <a:xfrm>
            <a:off x="1016000" y="1422400"/>
            <a:ext cx="10160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4"/>
          <p:cNvSpPr/>
          <p:nvPr/>
        </p:nvSpPr>
        <p:spPr>
          <a:xfrm>
            <a:off x="1016000" y="1778000"/>
            <a:ext cx="4889500" cy="3276600"/>
          </a:xfrm>
          <a:prstGeom prst="roundRect">
            <a:avLst/>
          </a:prstGeom>
          <a:solidFill>
            <a:srgbClr val="0D1A3A"/>
          </a:solidFill>
          <a:ln w="25400">
            <a:solidFill>
              <a:srgbClr val="06D6A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5" name="Shape 15"/>
          <p:cNvSpPr/>
          <p:nvPr/>
        </p:nvSpPr>
        <p:spPr>
          <a:xfrm>
            <a:off x="1320800" y="2057400"/>
            <a:ext cx="558800" cy="3556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Box 16"/>
          <p:cNvSpPr txBox="1"/>
          <p:nvPr/>
        </p:nvSpPr>
        <p:spPr>
          <a:xfrm>
            <a:off x="1320800" y="2057400"/>
            <a:ext cx="558800" cy="3556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0F1535"/>
                </a:solidFill>
                <a:latin typeface="Pretendard"/>
              </a:rPr>
              <a:t>Q1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32000" y="2032000"/>
            <a:ext cx="3556000" cy="381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사람은 어디에 개입하는가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0800" y="2540000"/>
            <a:ext cx="4267200" cy="254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06D6A0"/>
                </a:solidFill>
                <a:latin typeface="Pretendard"/>
              </a:rPr>
              <a:t>HITL — 두 가지 패턴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0800" y="3022600"/>
            <a:ext cx="4267200" cy="1143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▪ 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비동기 승인 — </a:t>
            </a: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흐름이 멈추고 기다린다 (Lab 5)</a:t>
            </a:r>
          </a:p>
          <a:p>
            <a:pPr algn="l">
              <a:spcBef>
                <a:spcPts val="1200"/>
              </a:spcBef>
              <a:buNone/>
            </a:pP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▪ 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대화형 확인 — </a:t>
            </a: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대화 중에 사람에게 묻는다 (Lab 7)</a:t>
            </a:r>
          </a:p>
        </p:txBody>
      </p:sp>
      <p:sp>
        <p:nvSpPr>
          <p:cNvPr id="20" name="Shape 20"/>
          <p:cNvSpPr/>
          <p:nvPr/>
        </p:nvSpPr>
        <p:spPr>
          <a:xfrm>
            <a:off x="1320800" y="4267200"/>
            <a:ext cx="4279900" cy="4064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" name="TextBox 21"/>
          <p:cNvSpPr txBox="1"/>
          <p:nvPr/>
        </p:nvSpPr>
        <p:spPr>
          <a:xfrm>
            <a:off x="1320800" y="4267200"/>
            <a:ext cx="4279900" cy="406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300" b="1" dirty="0">
                <a:solidFill>
                  <a:srgbClr val="0F1535"/>
                </a:solidFill>
                <a:latin typeface="Pretendard"/>
              </a:rPr>
              <a:t>두 패턴을 모두 직접 만든다</a:t>
            </a:r>
          </a:p>
        </p:txBody>
      </p:sp>
      <p:sp>
        <p:nvSpPr>
          <p:cNvPr id="22" name="Shape 22"/>
          <p:cNvSpPr/>
          <p:nvPr/>
        </p:nvSpPr>
        <p:spPr>
          <a:xfrm>
            <a:off x="6286500" y="1778000"/>
            <a:ext cx="4889500" cy="3276600"/>
          </a:xfrm>
          <a:prstGeom prst="roundRect">
            <a:avLst/>
          </a:prstGeom>
          <a:solidFill>
            <a:srgbClr val="0D1A3A"/>
          </a:solidFill>
          <a:ln w="25400">
            <a:solidFill>
              <a:srgbClr val="4361E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3"/>
          <p:cNvSpPr/>
          <p:nvPr/>
        </p:nvSpPr>
        <p:spPr>
          <a:xfrm>
            <a:off x="6591300" y="2057400"/>
            <a:ext cx="558800" cy="3556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Box 24"/>
          <p:cNvSpPr txBox="1"/>
          <p:nvPr/>
        </p:nvSpPr>
        <p:spPr>
          <a:xfrm>
            <a:off x="6591300" y="2057400"/>
            <a:ext cx="558800" cy="3556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Q2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02500" y="2032000"/>
            <a:ext cx="3556000" cy="381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커넥터인가, 흐름인가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91300" y="2540000"/>
            <a:ext cx="4267200" cy="254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4361EE"/>
                </a:solidFill>
                <a:latin typeface="Pretendard"/>
              </a:rPr>
              <a:t>경계 판단 — 무엇을 어디에 맡길까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91300" y="3022600"/>
            <a:ext cx="4267200" cy="1143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4361EE"/>
                </a:solidFill>
                <a:latin typeface="Pretendard"/>
              </a:rPr>
              <a:t>▪ 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조회·추론 — </a:t>
            </a: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커넥터 + 지침으로 충분해진다 (Lab 3)</a:t>
            </a:r>
          </a:p>
          <a:p>
            <a:pPr algn="l">
              <a:spcBef>
                <a:spcPts val="1200"/>
              </a:spcBef>
              <a:buNone/>
            </a:pPr>
            <a:r>
              <a:rPr lang="ko-KR" altLang="en-US" sz="1400" b="1" dirty="0">
                <a:solidFill>
                  <a:srgbClr val="4361EE"/>
                </a:solidFill>
                <a:latin typeface="Pretendard"/>
              </a:rPr>
              <a:t>▪ 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상태 변경 — </a:t>
            </a: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전부 성공 아니면 취소 = 흐름 (Lab 6)</a:t>
            </a:r>
          </a:p>
        </p:txBody>
      </p:sp>
      <p:sp>
        <p:nvSpPr>
          <p:cNvPr id="28" name="Shape 28"/>
          <p:cNvSpPr/>
          <p:nvPr/>
        </p:nvSpPr>
        <p:spPr>
          <a:xfrm>
            <a:off x="6591300" y="4267200"/>
            <a:ext cx="4279900" cy="4064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Box 29"/>
          <p:cNvSpPr txBox="1"/>
          <p:nvPr/>
        </p:nvSpPr>
        <p:spPr>
          <a:xfrm>
            <a:off x="6591300" y="4267200"/>
            <a:ext cx="4279900" cy="406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Pretendard"/>
              </a:rPr>
              <a:t>"흐름 없이 어디까지"를 직접 확인</a:t>
            </a:r>
          </a:p>
        </p:txBody>
      </p:sp>
      <p:sp>
        <p:nvSpPr>
          <p:cNvPr id="30" name="Shape 30"/>
          <p:cNvSpPr/>
          <p:nvPr/>
        </p:nvSpPr>
        <p:spPr>
          <a:xfrm>
            <a:off x="1016000" y="5334000"/>
            <a:ext cx="10160000" cy="965200"/>
          </a:xfrm>
          <a:prstGeom prst="roundRect">
            <a:avLst/>
          </a:prstGeom>
          <a:solidFill>
            <a:srgbClr val="101C3D"/>
          </a:solidFill>
          <a:ln w="19050">
            <a:solidFill>
              <a:srgbClr val="7B2FB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Box 31"/>
          <p:cNvSpPr txBox="1"/>
          <p:nvPr/>
        </p:nvSpPr>
        <p:spPr>
          <a:xfrm>
            <a:off x="1219200" y="5486400"/>
            <a:ext cx="9753600" cy="660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B388F0"/>
                </a:solidFill>
                <a:latin typeface="Pretendard"/>
              </a:rPr>
              <a:t>핵심 가이드 —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기능을 익히는 데서 끝나지 않습니다. 내 업무를 보며 '여기에도 적용할 수 있겠다'는 생각을 스스로 떠올릴 수 있게 만드는 것이 목표입니다.</a:t>
            </a:r>
          </a:p>
        </p:txBody>
      </p:sp>
    </p:spTree>
    <p:extLst>
      <p:ext uri="{BB962C8B-B14F-4D97-AF65-F5344CB8AC3E}">
        <p14:creationId xmlns:p14="http://schemas.microsoft.com/office/powerpoint/2010/main" val="1114291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AD0D30-CE45-4750-9ACC-82038E92A41F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821AF-E9BF-47DE-8775-FCF4F25910B2}"/>
              </a:ext>
            </a:extLst>
          </p:cNvPr>
          <p:cNvSpPr txBox="1"/>
          <p:nvPr/>
        </p:nvSpPr>
        <p:spPr>
          <a:xfrm>
            <a:off x="1016000" y="533400"/>
            <a:ext cx="63500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06D6A0"/>
                </a:solidFill>
                <a:latin typeface="Pretendard"/>
              </a:rPr>
              <a:t>오늘 강의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1E609-5F79-480D-85CD-0243E6D1573F}"/>
              </a:ext>
            </a:extLst>
          </p:cNvPr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2800" b="1">
                <a:solidFill>
                  <a:srgbClr val="FFFFFF"/>
                </a:solidFill>
                <a:latin typeface="Gmarket Sans"/>
              </a:rPr>
              <a:t>채용담당자의 하루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AAAE8-DFB9-479F-B339-BA257F8BC852}"/>
              </a:ext>
            </a:extLst>
          </p:cNvPr>
          <p:cNvSpPr txBox="1"/>
          <p:nvPr/>
        </p:nvSpPr>
        <p:spPr>
          <a:xfrm>
            <a:off x="1016000" y="1397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500">
                <a:solidFill>
                  <a:srgbClr val="A8B2D8"/>
                </a:solidFill>
                <a:latin typeface="Pretendard"/>
              </a:rPr>
              <a:t>반복 </a:t>
            </a:r>
            <a:r>
              <a:rPr lang="en-US" altLang="ko-KR" sz="1500">
                <a:solidFill>
                  <a:srgbClr val="A8B2D8"/>
                </a:solidFill>
                <a:latin typeface="Pretendard"/>
              </a:rPr>
              <a:t>· </a:t>
            </a:r>
            <a:r>
              <a:rPr lang="ko-KR" altLang="en-US" sz="1500">
                <a:solidFill>
                  <a:srgbClr val="A8B2D8"/>
                </a:solidFill>
                <a:latin typeface="Pretendard"/>
              </a:rPr>
              <a:t>수동 </a:t>
            </a:r>
            <a:r>
              <a:rPr lang="en-US" altLang="ko-KR" sz="1500">
                <a:solidFill>
                  <a:srgbClr val="A8B2D8"/>
                </a:solidFill>
                <a:latin typeface="Pretendard"/>
              </a:rPr>
              <a:t>· </a:t>
            </a:r>
            <a:r>
              <a:rPr lang="ko-KR" altLang="en-US" sz="1500">
                <a:solidFill>
                  <a:srgbClr val="A8B2D8"/>
                </a:solidFill>
                <a:latin typeface="Pretendard"/>
              </a:rPr>
              <a:t>누락 </a:t>
            </a:r>
            <a:r>
              <a:rPr lang="en-US" altLang="ko-KR" sz="1500">
                <a:solidFill>
                  <a:srgbClr val="A8B2D8"/>
                </a:solidFill>
                <a:latin typeface="Pretendard"/>
              </a:rPr>
              <a:t>— </a:t>
            </a:r>
            <a:r>
              <a:rPr lang="ko-KR" altLang="en-US" sz="1500">
                <a:solidFill>
                  <a:srgbClr val="A8B2D8"/>
                </a:solidFill>
                <a:latin typeface="Pretendard"/>
              </a:rPr>
              <a:t>익숙한 풍경입니다</a:t>
            </a:r>
            <a:r>
              <a:rPr lang="en-US" altLang="ko-KR" sz="1500">
                <a:solidFill>
                  <a:srgbClr val="A8B2D8"/>
                </a:solidFill>
                <a:latin typeface="Pretendard"/>
              </a:rPr>
              <a:t>.</a:t>
            </a:r>
            <a:endParaRPr lang="ko-KR" altLang="en-US" sz="15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9C35E3-A4C5-4511-8A2A-E8F95B8B1878}"/>
              </a:ext>
            </a:extLst>
          </p:cNvPr>
          <p:cNvSpPr txBox="1"/>
          <p:nvPr/>
        </p:nvSpPr>
        <p:spPr>
          <a:xfrm>
            <a:off x="1701800" y="23876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  <a:latin typeface="Pretendard"/>
              </a:rPr>
              <a:t>쏟아지는 지원 이메일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953A8-6508-478E-8F03-35072CDAA9F5}"/>
              </a:ext>
            </a:extLst>
          </p:cNvPr>
          <p:cNvSpPr txBox="1"/>
          <p:nvPr/>
        </p:nvSpPr>
        <p:spPr>
          <a:xfrm>
            <a:off x="1701800" y="27178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>
                <a:solidFill>
                  <a:srgbClr val="A8B2D8"/>
                </a:solidFill>
                <a:latin typeface="Pretendard"/>
              </a:rPr>
              <a:t>수십 통을 일일이 열어 확인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A7EEF-DE30-4DDE-BF36-CFA55FB4261B}"/>
              </a:ext>
            </a:extLst>
          </p:cNvPr>
          <p:cNvSpPr txBox="1"/>
          <p:nvPr/>
        </p:nvSpPr>
        <p:spPr>
          <a:xfrm>
            <a:off x="1701800" y="34036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  <a:latin typeface="Pretendard"/>
              </a:rPr>
              <a:t>엑셀에 수동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6AF19-0069-40DA-87ED-666DBAAB4A1B}"/>
              </a:ext>
            </a:extLst>
          </p:cNvPr>
          <p:cNvSpPr txBox="1"/>
          <p:nvPr/>
        </p:nvSpPr>
        <p:spPr>
          <a:xfrm>
            <a:off x="1701800" y="37338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>
                <a:solidFill>
                  <a:srgbClr val="A8B2D8"/>
                </a:solidFill>
                <a:latin typeface="Pretendard"/>
              </a:rPr>
              <a:t>이름 </a:t>
            </a:r>
            <a:r>
              <a:rPr lang="en-US" altLang="ko-KR" sz="1400">
                <a:solidFill>
                  <a:srgbClr val="A8B2D8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A8B2D8"/>
                </a:solidFill>
                <a:latin typeface="Pretendard"/>
              </a:rPr>
              <a:t>경력 </a:t>
            </a:r>
            <a:r>
              <a:rPr lang="en-US" altLang="ko-KR" sz="1400">
                <a:solidFill>
                  <a:srgbClr val="A8B2D8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A8B2D8"/>
                </a:solidFill>
                <a:latin typeface="Pretendard"/>
              </a:rPr>
              <a:t>연락처 복붙 반복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DC74E4-56E6-4E26-9FB7-7DACAD0DD9E0}"/>
              </a:ext>
            </a:extLst>
          </p:cNvPr>
          <p:cNvSpPr txBox="1"/>
          <p:nvPr/>
        </p:nvSpPr>
        <p:spPr>
          <a:xfrm>
            <a:off x="1701800" y="44196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  <a:latin typeface="Pretendard"/>
              </a:rPr>
              <a:t>면접 일정 누락 </a:t>
            </a:r>
            <a:r>
              <a:rPr lang="en-US" altLang="ko-KR" sz="17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700" b="1">
                <a:solidFill>
                  <a:srgbClr val="FFFFFF"/>
                </a:solidFill>
                <a:latin typeface="Pretendard"/>
              </a:rPr>
              <a:t>중복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6E9F9-5607-4258-9F89-F51B42446B4A}"/>
              </a:ext>
            </a:extLst>
          </p:cNvPr>
          <p:cNvSpPr txBox="1"/>
          <p:nvPr/>
        </p:nvSpPr>
        <p:spPr>
          <a:xfrm>
            <a:off x="1701800" y="47498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>
                <a:solidFill>
                  <a:srgbClr val="A8B2D8"/>
                </a:solidFill>
                <a:latin typeface="Pretendard"/>
              </a:rPr>
              <a:t>놓치는 후보</a:t>
            </a:r>
            <a:r>
              <a:rPr lang="en-US" altLang="ko-KR" sz="1400">
                <a:solidFill>
                  <a:srgbClr val="A8B2D8"/>
                </a:solidFill>
                <a:latin typeface="Pretendard"/>
              </a:rPr>
              <a:t>, </a:t>
            </a:r>
            <a:r>
              <a:rPr lang="ko-KR" altLang="en-US" sz="1400">
                <a:solidFill>
                  <a:srgbClr val="A8B2D8"/>
                </a:solidFill>
                <a:latin typeface="Pretendard"/>
              </a:rPr>
              <a:t>꼬이는 일정</a:t>
            </a:r>
          </a:p>
        </p:txBody>
      </p:sp>
      <p:pic>
        <p:nvPicPr>
          <p:cNvPr id="14" name="Graphic 14" descr="지원 이메일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508000" cy="508000"/>
          </a:xfrm>
          <a:prstGeom prst="rect">
            <a:avLst/>
          </a:prstGeom>
        </p:spPr>
      </p:pic>
      <p:pic>
        <p:nvPicPr>
          <p:cNvPr id="15" name="Graphic 15" descr="엑셀 수동 입력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pic>
        <p:nvPicPr>
          <p:cNvPr id="16" name="Graphic 16" descr="면접 일정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80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lBa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yebrow"/>
          <p:cNvSpPr txBox="1"/>
          <p:nvPr/>
        </p:nvSpPr>
        <p:spPr>
          <a:xfrm>
            <a:off x="1016000" y="5334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06D6A0"/>
                </a:solidFill>
                <a:latin typeface="Pretendard"/>
                <a:cs typeface="Pretendard"/>
              </a:rPr>
              <a:t>오늘 완성될 시스템</a:t>
            </a:r>
          </a:p>
        </p:txBody>
      </p:sp>
      <p:sp>
        <p:nvSpPr>
          <p:cNvPr id="71" name="Title"/>
          <p:cNvSpPr txBox="1"/>
          <p:nvPr/>
        </p:nvSpPr>
        <p:spPr>
          <a:xfrm>
            <a:off x="1016000" y="812800"/>
            <a:ext cx="10668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Gmarket Sans"/>
                <a:cs typeface="Gmarket Sans"/>
              </a:rPr>
              <a:t>오늘, 이 시스템을 직접 만듭니다</a:t>
            </a:r>
          </a:p>
        </p:txBody>
      </p:sp>
      <p:sp>
        <p:nvSpPr>
          <p:cNvPr id="80" name="box0"/>
          <p:cNvSpPr/>
          <p:nvPr/>
        </p:nvSpPr>
        <p:spPr>
          <a:xfrm>
            <a:off x="1016000" y="2540000"/>
            <a:ext cx="1778000" cy="1651000"/>
          </a:xfrm>
          <a:prstGeom prst="roundRect">
            <a:avLst>
              <a:gd name="adj" fmla="val 10000"/>
            </a:avLst>
          </a:prstGeom>
          <a:solidFill>
            <a:srgbClr val="24407A"/>
          </a:solidFill>
          <a:ln>
            <a:noFill/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Pretendard"/>
                <a:cs typeface="Pretendard"/>
              </a:rPr>
              <a:t>메일 수신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이메일 트리거</a:t>
            </a:r>
          </a:p>
        </p:txBody>
      </p:sp>
      <p:sp>
        <p:nvSpPr>
          <p:cNvPr id="81" name="ar0"/>
          <p:cNvSpPr/>
          <p:nvPr/>
        </p:nvSpPr>
        <p:spPr>
          <a:xfrm>
            <a:off x="2819400" y="3238500"/>
            <a:ext cx="266700" cy="2540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box1"/>
          <p:cNvSpPr/>
          <p:nvPr/>
        </p:nvSpPr>
        <p:spPr>
          <a:xfrm>
            <a:off x="3111500" y="2540000"/>
            <a:ext cx="1778000" cy="1651000"/>
          </a:xfrm>
          <a:prstGeom prst="roundRect">
            <a:avLst>
              <a:gd name="adj" fmla="val 10000"/>
            </a:avLst>
          </a:prstGeom>
          <a:solidFill>
            <a:srgbClr val="24407A"/>
          </a:solidFill>
          <a:ln>
            <a:noFill/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Pretendard"/>
                <a:cs typeface="Pretendard"/>
              </a:rPr>
              <a:t>적재 흐름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SharePoint 저장</a:t>
            </a:r>
          </a:p>
        </p:txBody>
      </p:sp>
      <p:sp>
        <p:nvSpPr>
          <p:cNvPr id="83" name="ar1"/>
          <p:cNvSpPr/>
          <p:nvPr/>
        </p:nvSpPr>
        <p:spPr>
          <a:xfrm>
            <a:off x="4914900" y="3238500"/>
            <a:ext cx="266700" cy="2540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box2"/>
          <p:cNvSpPr/>
          <p:nvPr/>
        </p:nvSpPr>
        <p:spPr>
          <a:xfrm>
            <a:off x="5207000" y="2540000"/>
            <a:ext cx="1778000" cy="1651000"/>
          </a:xfrm>
          <a:prstGeom prst="roundRect">
            <a:avLst>
              <a:gd name="adj" fmla="val 10000"/>
            </a:avLst>
          </a:prstGeom>
          <a:solidFill>
            <a:srgbClr val="24407A"/>
          </a:solidFill>
          <a:ln>
            <a:noFill/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Pretendard"/>
                <a:cs typeface="Pretendard"/>
              </a:rPr>
              <a:t>승인 흐름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비동기 HITL</a:t>
            </a:r>
          </a:p>
        </p:txBody>
      </p:sp>
      <p:sp>
        <p:nvSpPr>
          <p:cNvPr id="85" name="ar2"/>
          <p:cNvSpPr/>
          <p:nvPr/>
        </p:nvSpPr>
        <p:spPr>
          <a:xfrm>
            <a:off x="7010400" y="3238500"/>
            <a:ext cx="266700" cy="2540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box3"/>
          <p:cNvSpPr/>
          <p:nvPr/>
        </p:nvSpPr>
        <p:spPr>
          <a:xfrm>
            <a:off x="7302500" y="2540000"/>
            <a:ext cx="1778000" cy="1651000"/>
          </a:xfrm>
          <a:prstGeom prst="roundRect">
            <a:avLst>
              <a:gd name="adj" fmla="val 10000"/>
            </a:avLst>
          </a:prstGeom>
          <a:solidFill>
            <a:srgbClr val="0D2A2A"/>
          </a:solidFill>
          <a:ln w="31750">
            <a:solidFill>
              <a:srgbClr val="06D6A0"/>
            </a:solidFill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06D6A0"/>
                </a:solidFill>
                <a:latin typeface="Pretendard"/>
                <a:cs typeface="Pretendard"/>
              </a:rPr>
              <a:t>에이전트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조회·평가·면접질문</a:t>
            </a:r>
          </a:p>
        </p:txBody>
      </p:sp>
      <p:sp>
        <p:nvSpPr>
          <p:cNvPr id="87" name="ar3"/>
          <p:cNvSpPr/>
          <p:nvPr/>
        </p:nvSpPr>
        <p:spPr>
          <a:xfrm>
            <a:off x="9105900" y="3238500"/>
            <a:ext cx="266700" cy="2540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box4"/>
          <p:cNvSpPr/>
          <p:nvPr/>
        </p:nvSpPr>
        <p:spPr>
          <a:xfrm>
            <a:off x="9398000" y="2540000"/>
            <a:ext cx="1778000" cy="1651000"/>
          </a:xfrm>
          <a:prstGeom prst="roundRect">
            <a:avLst>
              <a:gd name="adj" fmla="val 10000"/>
            </a:avLst>
          </a:prstGeom>
          <a:solidFill>
            <a:srgbClr val="24407A"/>
          </a:solidFill>
          <a:ln>
            <a:noFill/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Pretendard"/>
                <a:cs typeface="Pretendard"/>
              </a:rPr>
              <a:t>상태 트랜잭션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상태 업데이트</a:t>
            </a:r>
          </a:p>
        </p:txBody>
      </p:sp>
      <p:sp>
        <p:nvSpPr>
          <p:cNvPr id="99" name="cap"/>
          <p:cNvSpPr txBox="1"/>
          <p:nvPr/>
        </p:nvSpPr>
        <p:spPr>
          <a:xfrm>
            <a:off x="1016000" y="5461000"/>
            <a:ext cx="1016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400" dirty="0">
                <a:solidFill>
                  <a:srgbClr val="6B7BA4"/>
                </a:solidFill>
                <a:latin typeface="Pretendard"/>
                <a:cs typeface="Pretendard"/>
              </a:rPr>
              <a:t>메일 한 통이 자동으로 적재 · 승인 · 평가까지 흐릅니다.</a:t>
            </a:r>
          </a:p>
        </p:txBody>
      </p:sp>
      <p:sp>
        <p:nvSpPr>
          <p:cNvPr id="200" name="legend"/>
          <p:cNvSpPr txBox="1"/>
          <p:nvPr/>
        </p:nvSpPr>
        <p:spPr>
          <a:xfrm>
            <a:off x="1016000" y="48387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5B8DEF"/>
                </a:solidFill>
                <a:latin typeface="Pretendard"/>
                <a:cs typeface="Pretendard"/>
              </a:rPr>
              <a:t>흐름</a:t>
            </a:r>
            <a:r>
              <a:rPr lang="ko-KR" altLang="en-US" sz="1300" dirty="0">
                <a:solidFill>
                  <a:srgbClr val="A8B2D8"/>
                </a:solidFill>
                <a:latin typeface="Pretendard"/>
                <a:cs typeface="Pretendard"/>
              </a:rPr>
              <a:t> = 상태 변경 · 트랜잭션          </a:t>
            </a:r>
            <a:r>
              <a:rPr lang="ko-KR" altLang="en-US" sz="1300" b="1" dirty="0">
                <a:solidFill>
                  <a:srgbClr val="06D6A0"/>
                </a:solidFill>
                <a:latin typeface="Pretendard"/>
                <a:cs typeface="Pretendard"/>
              </a:rPr>
              <a:t>에이전트</a:t>
            </a:r>
            <a:r>
              <a:rPr lang="ko-KR" altLang="en-US" sz="1300" dirty="0">
                <a:solidFill>
                  <a:srgbClr val="A8B2D8"/>
                </a:solidFill>
                <a:latin typeface="Pretendard"/>
                <a:cs typeface="Pretendard"/>
              </a:rPr>
              <a:t> = 읽기 · 추론</a:t>
            </a:r>
          </a:p>
        </p:txBody>
      </p:sp>
    </p:spTree>
    <p:extLst>
      <p:ext uri="{BB962C8B-B14F-4D97-AF65-F5344CB8AC3E}">
        <p14:creationId xmlns:p14="http://schemas.microsoft.com/office/powerpoint/2010/main" val="51651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lBa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yebrow"/>
          <p:cNvSpPr txBox="1"/>
          <p:nvPr/>
        </p:nvSpPr>
        <p:spPr>
          <a:xfrm>
            <a:off x="1016000" y="5334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en-US" sz="1300" b="1" dirty="0">
                <a:solidFill>
                  <a:srgbClr val="06D6A0"/>
                </a:solidFill>
                <a:latin typeface="Pretendard"/>
                <a:cs typeface="Pretendard"/>
              </a:rPr>
              <a:t>HITL 패턴 ①</a:t>
            </a:r>
          </a:p>
        </p:txBody>
      </p:sp>
      <p:sp>
        <p:nvSpPr>
          <p:cNvPr id="71" name="Title"/>
          <p:cNvSpPr txBox="1"/>
          <p:nvPr/>
        </p:nvSpPr>
        <p:spPr>
          <a:xfrm>
            <a:off x="1016000" y="812800"/>
            <a:ext cx="7112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Gmarket Sans"/>
                <a:cs typeface="Gmarket Sans"/>
              </a:rPr>
              <a:t>비동기 승인</a:t>
            </a:r>
          </a:p>
        </p:txBody>
      </p:sp>
      <p:sp>
        <p:nvSpPr>
          <p:cNvPr id="72" name="Tag"/>
          <p:cNvSpPr txBox="1"/>
          <p:nvPr/>
        </p:nvSpPr>
        <p:spPr>
          <a:xfrm>
            <a:off x="4572000" y="9652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00" dirty="0">
                <a:solidFill>
                  <a:srgbClr val="6B7BA4"/>
                </a:solidFill>
                <a:latin typeface="Pretendard"/>
                <a:cs typeface="Pretendard"/>
              </a:rPr>
              <a:t>Asynchronous Approval</a:t>
            </a:r>
          </a:p>
        </p:txBody>
      </p:sp>
      <p:sp>
        <p:nvSpPr>
          <p:cNvPr id="73" name="Desc"/>
          <p:cNvSpPr txBox="1"/>
          <p:nvPr/>
        </p:nvSpPr>
        <p:spPr>
          <a:xfrm>
            <a:off x="1016000" y="14224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dirty="0">
                <a:solidFill>
                  <a:srgbClr val="A8B2D8"/>
                </a:solidFill>
                <a:latin typeface="Pretendard"/>
                <a:cs typeface="Pretendard"/>
              </a:rPr>
              <a:t>흐름이 사람의 승인을 기다렸다가 다시 이어집니다.</a:t>
            </a:r>
          </a:p>
        </p:txBody>
      </p:sp>
      <p:sp>
        <p:nvSpPr>
          <p:cNvPr id="80" name="b0"/>
          <p:cNvSpPr/>
          <p:nvPr/>
        </p:nvSpPr>
        <p:spPr>
          <a:xfrm>
            <a:off x="1016000" y="2184400"/>
            <a:ext cx="2997200" cy="1524000"/>
          </a:xfrm>
          <a:prstGeom prst="roundRect">
            <a:avLst>
              <a:gd name="adj" fmla="val 9000"/>
            </a:avLst>
          </a:prstGeom>
          <a:solidFill>
            <a:srgbClr val="24407A"/>
          </a:solidFill>
          <a:ln>
            <a:noFill/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Pretendard"/>
                <a:cs typeface="Pretendard"/>
              </a:rPr>
              <a:t>흐름 실행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승인 요청 자동 생성</a:t>
            </a:r>
          </a:p>
        </p:txBody>
      </p:sp>
      <p:sp>
        <p:nvSpPr>
          <p:cNvPr id="81" name="b1"/>
          <p:cNvSpPr/>
          <p:nvPr/>
        </p:nvSpPr>
        <p:spPr>
          <a:xfrm>
            <a:off x="4597400" y="2184400"/>
            <a:ext cx="2997200" cy="1524000"/>
          </a:xfrm>
          <a:prstGeom prst="roundRect">
            <a:avLst>
              <a:gd name="adj" fmla="val 9000"/>
            </a:avLst>
          </a:prstGeom>
          <a:solidFill>
            <a:srgbClr val="2A2414"/>
          </a:solidFill>
          <a:ln w="31750">
            <a:solidFill>
              <a:srgbClr val="E7B93B"/>
            </a:solidFill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E7B93B"/>
                </a:solidFill>
                <a:latin typeface="Pretendard"/>
                <a:cs typeface="Pretendard"/>
              </a:rPr>
              <a:t>승인 (사람)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Teams · Outlook 알림 → 승인·반려</a:t>
            </a:r>
          </a:p>
        </p:txBody>
      </p:sp>
      <p:sp>
        <p:nvSpPr>
          <p:cNvPr id="82" name="b2"/>
          <p:cNvSpPr/>
          <p:nvPr/>
        </p:nvSpPr>
        <p:spPr>
          <a:xfrm>
            <a:off x="8178800" y="2184400"/>
            <a:ext cx="2997200" cy="1524000"/>
          </a:xfrm>
          <a:prstGeom prst="roundRect">
            <a:avLst>
              <a:gd name="adj" fmla="val 9000"/>
            </a:avLst>
          </a:prstGeom>
          <a:solidFill>
            <a:srgbClr val="24407A"/>
          </a:solidFill>
          <a:ln>
            <a:noFill/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Pretendard"/>
                <a:cs typeface="Pretendard"/>
              </a:rPr>
              <a:t>흐름 재개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승인 후 자동 계속</a:t>
            </a:r>
          </a:p>
        </p:txBody>
      </p:sp>
      <p:sp>
        <p:nvSpPr>
          <p:cNvPr id="83" name="ar0"/>
          <p:cNvSpPr/>
          <p:nvPr/>
        </p:nvSpPr>
        <p:spPr>
          <a:xfrm>
            <a:off x="4064000" y="2832100"/>
            <a:ext cx="508000" cy="2286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ar1"/>
          <p:cNvSpPr/>
          <p:nvPr/>
        </p:nvSpPr>
        <p:spPr>
          <a:xfrm>
            <a:off x="7645400" y="2832100"/>
            <a:ext cx="508000" cy="2286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bd90"/>
          <p:cNvSpPr/>
          <p:nvPr/>
        </p:nvSpPr>
        <p:spPr>
          <a:xfrm>
            <a:off x="1016000" y="4191000"/>
            <a:ext cx="2032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bt90"/>
          <p:cNvSpPr txBox="1"/>
          <p:nvPr/>
        </p:nvSpPr>
        <p:spPr>
          <a:xfrm>
            <a:off x="1320800" y="40894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사람이 자리에 없어도 진행 — 비동기</a:t>
            </a:r>
          </a:p>
        </p:txBody>
      </p:sp>
      <p:sp>
        <p:nvSpPr>
          <p:cNvPr id="92" name="bd92"/>
          <p:cNvSpPr/>
          <p:nvPr/>
        </p:nvSpPr>
        <p:spPr>
          <a:xfrm>
            <a:off x="1016000" y="4622800"/>
            <a:ext cx="2032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bt92"/>
          <p:cNvSpPr txBox="1"/>
          <p:nvPr/>
        </p:nvSpPr>
        <p:spPr>
          <a:xfrm>
            <a:off x="1320800" y="45212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b="1" dirty="0">
                <a:solidFill>
                  <a:srgbClr val="FFC000"/>
                </a:solidFill>
                <a:latin typeface="Pretendard"/>
                <a:cs typeface="Pretendard"/>
              </a:rPr>
              <a:t>요약승인상태</a:t>
            </a:r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로 체크 </a:t>
            </a:r>
            <a:r>
              <a:rPr lang="en-US" altLang="ko-KR" sz="1500" dirty="0">
                <a:solidFill>
                  <a:srgbClr val="FFFFFF"/>
                </a:solidFill>
                <a:latin typeface="Pretendard"/>
                <a:cs typeface="Pretendard"/>
              </a:rPr>
              <a:t>– </a:t>
            </a:r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승인된 지원자만 </a:t>
            </a:r>
            <a:r>
              <a:rPr lang="en-US" altLang="ko-KR" sz="1500" dirty="0">
                <a:solidFill>
                  <a:srgbClr val="FFFFFF"/>
                </a:solidFill>
                <a:latin typeface="Pretendard"/>
                <a:cs typeface="Pretendard"/>
              </a:rPr>
              <a:t>AI</a:t>
            </a:r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적합도를 계산</a:t>
            </a:r>
          </a:p>
        </p:txBody>
      </p:sp>
      <p:sp>
        <p:nvSpPr>
          <p:cNvPr id="95" name="unit"/>
          <p:cNvSpPr/>
          <p:nvPr/>
        </p:nvSpPr>
        <p:spPr>
          <a:xfrm>
            <a:off x="4762500" y="5181600"/>
            <a:ext cx="2667000" cy="482600"/>
          </a:xfrm>
          <a:prstGeom prst="roundRect">
            <a:avLst>
              <a:gd name="adj" fmla="val 50000"/>
            </a:avLst>
          </a:prstGeom>
          <a:solidFill>
            <a:srgbClr val="102B4A"/>
          </a:solidFill>
          <a:ln>
            <a:noFill/>
          </a:ln>
        </p:spPr>
        <p:txBody>
          <a:bodyPr wrap="none" lIns="0" r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06D6A0"/>
                </a:solidFill>
                <a:latin typeface="Pretendard"/>
                <a:cs typeface="Pretendard"/>
              </a:rPr>
              <a:t>대응 실습 — </a:t>
            </a:r>
            <a:r>
              <a:rPr lang="en-US" altLang="ko-KR" sz="1400" b="1" dirty="0">
                <a:solidFill>
                  <a:srgbClr val="06D6A0"/>
                </a:solidFill>
                <a:latin typeface="Pretendard"/>
                <a:cs typeface="Pretendard"/>
              </a:rPr>
              <a:t>Lab 5</a:t>
            </a:r>
            <a:endParaRPr lang="ko-KR" altLang="en-US" sz="1400" b="1" dirty="0">
              <a:solidFill>
                <a:srgbClr val="06D6A0"/>
              </a:solidFill>
              <a:latin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16053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lBa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yebrow"/>
          <p:cNvSpPr txBox="1"/>
          <p:nvPr/>
        </p:nvSpPr>
        <p:spPr>
          <a:xfrm>
            <a:off x="1016000" y="5334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06D6A0"/>
                </a:solidFill>
                <a:latin typeface="Pretendard"/>
                <a:cs typeface="Pretendard"/>
              </a:rPr>
              <a:t>HITL 패턴 ②</a:t>
            </a:r>
          </a:p>
        </p:txBody>
      </p:sp>
      <p:sp>
        <p:nvSpPr>
          <p:cNvPr id="71" name="Title"/>
          <p:cNvSpPr txBox="1"/>
          <p:nvPr/>
        </p:nvSpPr>
        <p:spPr>
          <a:xfrm>
            <a:off x="1016000" y="812800"/>
            <a:ext cx="7112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Gmarket Sans"/>
                <a:cs typeface="Gmarket Sans"/>
              </a:rPr>
              <a:t>대화형 확인</a:t>
            </a:r>
          </a:p>
        </p:txBody>
      </p:sp>
      <p:sp>
        <p:nvSpPr>
          <p:cNvPr id="72" name="Tag"/>
          <p:cNvSpPr txBox="1"/>
          <p:nvPr/>
        </p:nvSpPr>
        <p:spPr>
          <a:xfrm>
            <a:off x="4191000" y="9652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00" dirty="0">
                <a:solidFill>
                  <a:srgbClr val="6B7BA4"/>
                </a:solidFill>
                <a:latin typeface="Pretendard"/>
                <a:cs typeface="Pretendard"/>
              </a:rPr>
              <a:t>Conversational</a:t>
            </a:r>
          </a:p>
        </p:txBody>
      </p:sp>
      <p:sp>
        <p:nvSpPr>
          <p:cNvPr id="73" name="Desc"/>
          <p:cNvSpPr txBox="1"/>
          <p:nvPr/>
        </p:nvSpPr>
        <p:spPr>
          <a:xfrm>
            <a:off x="1016000" y="14224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dirty="0">
                <a:solidFill>
                  <a:srgbClr val="A8B2D8"/>
                </a:solidFill>
                <a:latin typeface="Pretendard"/>
                <a:cs typeface="Pretendard"/>
              </a:rPr>
              <a:t>에이전트가 대화 중에 사람에게 직접 확인합니다.</a:t>
            </a:r>
          </a:p>
        </p:txBody>
      </p:sp>
      <p:sp>
        <p:nvSpPr>
          <p:cNvPr id="80" name="b0"/>
          <p:cNvSpPr/>
          <p:nvPr/>
        </p:nvSpPr>
        <p:spPr>
          <a:xfrm>
            <a:off x="1016000" y="2184400"/>
            <a:ext cx="2997200" cy="1524000"/>
          </a:xfrm>
          <a:prstGeom prst="roundRect">
            <a:avLst>
              <a:gd name="adj" fmla="val 9000"/>
            </a:avLst>
          </a:prstGeom>
          <a:solidFill>
            <a:srgbClr val="102B4A"/>
          </a:solidFill>
          <a:ln w="31750">
            <a:solidFill>
              <a:srgbClr val="06D6A0"/>
            </a:solidFill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06D6A0"/>
                </a:solidFill>
                <a:latin typeface="Pretendard"/>
                <a:cs typeface="Pretendard"/>
              </a:rPr>
              <a:t>에이전트 작동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면접 질문 · 평가 진행</a:t>
            </a:r>
          </a:p>
        </p:txBody>
      </p:sp>
      <p:sp>
        <p:nvSpPr>
          <p:cNvPr id="81" name="b1"/>
          <p:cNvSpPr/>
          <p:nvPr/>
        </p:nvSpPr>
        <p:spPr>
          <a:xfrm>
            <a:off x="4597400" y="2184400"/>
            <a:ext cx="2997200" cy="1524000"/>
          </a:xfrm>
          <a:prstGeom prst="roundRect">
            <a:avLst>
              <a:gd name="adj" fmla="val 9000"/>
            </a:avLst>
          </a:prstGeom>
          <a:solidFill>
            <a:srgbClr val="2A2414"/>
          </a:solidFill>
          <a:ln w="31750">
            <a:solidFill>
              <a:srgbClr val="E7B93B"/>
            </a:solidFill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E7B93B"/>
                </a:solidFill>
                <a:latin typeface="Pretendard"/>
                <a:cs typeface="Pretendard"/>
              </a:rPr>
              <a:t>대화로 확인 (사람)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챗봇이 면접관에게 질문</a:t>
            </a:r>
          </a:p>
        </p:txBody>
      </p:sp>
      <p:sp>
        <p:nvSpPr>
          <p:cNvPr id="82" name="b2"/>
          <p:cNvSpPr/>
          <p:nvPr/>
        </p:nvSpPr>
        <p:spPr>
          <a:xfrm>
            <a:off x="8178800" y="2184400"/>
            <a:ext cx="2997200" cy="1524000"/>
          </a:xfrm>
          <a:prstGeom prst="roundRect">
            <a:avLst>
              <a:gd name="adj" fmla="val 9000"/>
            </a:avLst>
          </a:prstGeom>
          <a:solidFill>
            <a:srgbClr val="102B4A"/>
          </a:solidFill>
          <a:ln w="31750">
            <a:solidFill>
              <a:srgbClr val="06D6A0"/>
            </a:solidFill>
          </a:ln>
        </p:spPr>
        <p:txBody>
          <a:bodyPr wrap="square" lIns="18000" tIns="18000" rIns="18000" bIns="1800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06D6A0"/>
                </a:solidFill>
                <a:latin typeface="Pretendard"/>
                <a:cs typeface="Pretendard"/>
              </a:rPr>
              <a:t>응답 → 진행</a:t>
            </a:r>
          </a:p>
          <a:p>
            <a:pPr algn="ctr">
              <a:spcBef>
                <a:spcPts val="400"/>
              </a:spcBef>
            </a:pPr>
            <a:r>
              <a:rPr lang="ko-KR" altLang="en-US" sz="1200" dirty="0">
                <a:solidFill>
                  <a:srgbClr val="A8B2D8"/>
                </a:solidFill>
                <a:latin typeface="Pretendard"/>
                <a:cs typeface="Pretendard"/>
              </a:rPr>
              <a:t>면접관 답변 후 계속</a:t>
            </a:r>
          </a:p>
        </p:txBody>
      </p:sp>
      <p:sp>
        <p:nvSpPr>
          <p:cNvPr id="83" name="ar0"/>
          <p:cNvSpPr/>
          <p:nvPr/>
        </p:nvSpPr>
        <p:spPr>
          <a:xfrm>
            <a:off x="4064000" y="2832100"/>
            <a:ext cx="508000" cy="2286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ar1"/>
          <p:cNvSpPr/>
          <p:nvPr/>
        </p:nvSpPr>
        <p:spPr>
          <a:xfrm>
            <a:off x="7645400" y="2832100"/>
            <a:ext cx="508000" cy="228600"/>
          </a:xfrm>
          <a:prstGeom prst="rightArrow">
            <a:avLst/>
          </a:prstGeom>
          <a:solidFill>
            <a:srgbClr val="4D5F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bd90"/>
          <p:cNvSpPr/>
          <p:nvPr/>
        </p:nvSpPr>
        <p:spPr>
          <a:xfrm>
            <a:off x="1016000" y="4191000"/>
            <a:ext cx="2032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bt90"/>
          <p:cNvSpPr txBox="1"/>
          <p:nvPr/>
        </p:nvSpPr>
        <p:spPr>
          <a:xfrm>
            <a:off x="1320800" y="40894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실시간 대화 속에서 확인 — 에이전트가 주도</a:t>
            </a:r>
          </a:p>
        </p:txBody>
      </p:sp>
      <p:sp>
        <p:nvSpPr>
          <p:cNvPr id="92" name="bd92"/>
          <p:cNvSpPr/>
          <p:nvPr/>
        </p:nvSpPr>
        <p:spPr>
          <a:xfrm>
            <a:off x="1016000" y="4622800"/>
            <a:ext cx="2032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bt92"/>
          <p:cNvSpPr txBox="1"/>
          <p:nvPr/>
        </p:nvSpPr>
        <p:spPr>
          <a:xfrm>
            <a:off x="1320800" y="4521200"/>
            <a:ext cx="680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면접관과 자연어로 주고받음 </a:t>
            </a:r>
            <a:r>
              <a:rPr lang="en-US" altLang="ko-KR" sz="1500" dirty="0">
                <a:solidFill>
                  <a:srgbClr val="FFFFFF"/>
                </a:solidFill>
                <a:latin typeface="Pretendard"/>
                <a:cs typeface="Pretendard"/>
              </a:rPr>
              <a:t>– </a:t>
            </a:r>
            <a:r>
              <a:rPr lang="en-US" altLang="ko-KR" sz="1500" b="1" dirty="0">
                <a:solidFill>
                  <a:srgbClr val="FFC000"/>
                </a:solidFill>
                <a:latin typeface="Pretendard"/>
                <a:cs typeface="Pretendard"/>
              </a:rPr>
              <a:t>AI</a:t>
            </a:r>
            <a:r>
              <a:rPr lang="ko-KR" altLang="en-US" sz="1500" b="1" dirty="0">
                <a:solidFill>
                  <a:srgbClr val="FFC000"/>
                </a:solidFill>
                <a:latin typeface="Pretendard"/>
                <a:cs typeface="Pretendard"/>
              </a:rPr>
              <a:t>적합도</a:t>
            </a:r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를 확정 </a:t>
            </a:r>
            <a:r>
              <a:rPr lang="en-US" altLang="ko-KR" sz="1500" dirty="0">
                <a:solidFill>
                  <a:srgbClr val="FFFFFF"/>
                </a:solidFill>
                <a:latin typeface="Pretendard"/>
                <a:cs typeface="Pretendard"/>
              </a:rPr>
              <a:t>– </a:t>
            </a:r>
            <a:r>
              <a:rPr lang="ko-KR" altLang="en-US" sz="1500" dirty="0">
                <a:solidFill>
                  <a:srgbClr val="FFFFFF"/>
                </a:solidFill>
                <a:latin typeface="Pretendard"/>
                <a:cs typeface="Pretendard"/>
              </a:rPr>
              <a:t>이후 서류 합격 상태변경</a:t>
            </a:r>
            <a:endParaRPr lang="en-US" altLang="ko-KR" sz="1500" dirty="0">
              <a:solidFill>
                <a:srgbClr val="FFFFFF"/>
              </a:solidFill>
              <a:latin typeface="Pretendard"/>
              <a:cs typeface="Pretendard"/>
            </a:endParaRPr>
          </a:p>
          <a:p>
            <a:pPr algn="l"/>
            <a:endParaRPr lang="ko-KR" altLang="en-US" sz="1500" dirty="0">
              <a:solidFill>
                <a:srgbClr val="FFFFFF"/>
              </a:solidFill>
              <a:latin typeface="Pretendard"/>
              <a:cs typeface="Pretendard"/>
            </a:endParaRPr>
          </a:p>
        </p:txBody>
      </p:sp>
      <p:sp>
        <p:nvSpPr>
          <p:cNvPr id="95" name="unit"/>
          <p:cNvSpPr/>
          <p:nvPr/>
        </p:nvSpPr>
        <p:spPr>
          <a:xfrm>
            <a:off x="4762500" y="5181600"/>
            <a:ext cx="2667000" cy="482600"/>
          </a:xfrm>
          <a:prstGeom prst="roundRect">
            <a:avLst>
              <a:gd name="adj" fmla="val 50000"/>
            </a:avLst>
          </a:prstGeom>
          <a:solidFill>
            <a:srgbClr val="102B4A"/>
          </a:solidFill>
          <a:ln>
            <a:noFill/>
          </a:ln>
        </p:spPr>
        <p:txBody>
          <a:bodyPr wrap="none" lIns="0" r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06D6A0"/>
                </a:solidFill>
                <a:latin typeface="Pretendard"/>
                <a:cs typeface="Pretendard"/>
              </a:rPr>
              <a:t>대응 실습 — </a:t>
            </a:r>
            <a:r>
              <a:rPr lang="en-US" altLang="ko-KR" sz="1400" b="1" dirty="0">
                <a:solidFill>
                  <a:srgbClr val="06D6A0"/>
                </a:solidFill>
                <a:latin typeface="Pretendard"/>
                <a:cs typeface="Pretendard"/>
              </a:rPr>
              <a:t>Lab 7</a:t>
            </a:r>
            <a:endParaRPr lang="ko-KR" altLang="en-US" sz="1400" b="1" dirty="0">
              <a:solidFill>
                <a:srgbClr val="06D6A0"/>
              </a:solidFill>
              <a:latin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859821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ln"/>
          <p:cNvSpPr txBox="1"/>
          <p:nvPr/>
        </p:nvSpPr>
        <p:spPr>
          <a:xfrm>
            <a:off x="1016000" y="9652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06D6A0"/>
                </a:solidFill>
                <a:latin typeface="Pretendard"/>
                <a:cs typeface="Pretendard"/>
              </a:rPr>
              <a:t>PART 6 — 오늘의 설계 원칙</a:t>
            </a:r>
          </a:p>
        </p:txBody>
      </p:sp>
      <p:sp>
        <p:nvSpPr>
          <p:cNvPr id="102" name="r"/>
          <p:cNvSpPr/>
          <p:nvPr/>
        </p:nvSpPr>
        <p:spPr>
          <a:xfrm>
            <a:off x="5715000" y="1422400"/>
            <a:ext cx="7620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ln"/>
          <p:cNvSpPr txBox="1"/>
          <p:nvPr/>
        </p:nvSpPr>
        <p:spPr>
          <a:xfrm>
            <a:off x="1016000" y="1905000"/>
            <a:ext cx="101600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3000" dirty="0">
                <a:solidFill>
                  <a:srgbClr val="FFFFFF"/>
                </a:solidFill>
                <a:latin typeface="Gmarket Sans"/>
                <a:cs typeface="Gmarket Sans"/>
              </a:rPr>
              <a:t>읽기 · 조회 · 추론   </a:t>
            </a:r>
            <a:r>
              <a:rPr lang="ko-KR" altLang="en-US" sz="3000" b="1" dirty="0">
                <a:solidFill>
                  <a:srgbClr val="6B7BA4"/>
                </a:solidFill>
                <a:latin typeface="Gmarket Sans"/>
                <a:cs typeface="Gmarket Sans"/>
              </a:rPr>
              <a:t>→   </a:t>
            </a:r>
            <a:r>
              <a:rPr lang="ko-KR" altLang="en-US" sz="3000" b="1" dirty="0">
                <a:solidFill>
                  <a:srgbClr val="06D6A0"/>
                </a:solidFill>
                <a:latin typeface="Gmarket Sans"/>
                <a:cs typeface="Gmarket Sans"/>
              </a:rPr>
              <a:t>에이전트</a:t>
            </a:r>
          </a:p>
        </p:txBody>
      </p:sp>
      <p:sp>
        <p:nvSpPr>
          <p:cNvPr id="104" name="ln"/>
          <p:cNvSpPr txBox="1"/>
          <p:nvPr/>
        </p:nvSpPr>
        <p:spPr>
          <a:xfrm>
            <a:off x="1016000" y="2819400"/>
            <a:ext cx="101600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3000" dirty="0">
                <a:solidFill>
                  <a:srgbClr val="FFFFFF"/>
                </a:solidFill>
                <a:latin typeface="Gmarket Sans"/>
                <a:cs typeface="Gmarket Sans"/>
              </a:rPr>
              <a:t>상태 변경 · 확정 트랜잭션   </a:t>
            </a:r>
            <a:r>
              <a:rPr lang="ko-KR" altLang="en-US" sz="3000" b="1" dirty="0">
                <a:solidFill>
                  <a:srgbClr val="6B7BA4"/>
                </a:solidFill>
                <a:latin typeface="Gmarket Sans"/>
                <a:cs typeface="Gmarket Sans"/>
              </a:rPr>
              <a:t>→   </a:t>
            </a:r>
            <a:r>
              <a:rPr lang="ko-KR" altLang="en-US" sz="3000" b="1" dirty="0">
                <a:solidFill>
                  <a:srgbClr val="5B8DEF"/>
                </a:solidFill>
                <a:latin typeface="Gmarket Sans"/>
                <a:cs typeface="Gmarket Sans"/>
              </a:rPr>
              <a:t>흐름</a:t>
            </a:r>
          </a:p>
        </p:txBody>
      </p:sp>
      <p:sp>
        <p:nvSpPr>
          <p:cNvPr id="105" name="ln"/>
          <p:cNvSpPr txBox="1"/>
          <p:nvPr/>
        </p:nvSpPr>
        <p:spPr>
          <a:xfrm>
            <a:off x="1016000" y="3733800"/>
            <a:ext cx="101600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3000" dirty="0">
                <a:solidFill>
                  <a:srgbClr val="FFFFFF"/>
                </a:solidFill>
                <a:latin typeface="Gmarket Sans"/>
                <a:cs typeface="Gmarket Sans"/>
              </a:rPr>
              <a:t>결정 · 승인   </a:t>
            </a:r>
            <a:r>
              <a:rPr lang="ko-KR" altLang="en-US" sz="3000" b="1" dirty="0">
                <a:solidFill>
                  <a:srgbClr val="6B7BA4"/>
                </a:solidFill>
                <a:latin typeface="Gmarket Sans"/>
                <a:cs typeface="Gmarket Sans"/>
              </a:rPr>
              <a:t>→   </a:t>
            </a:r>
            <a:r>
              <a:rPr lang="ko-KR" altLang="en-US" sz="3000" b="1" dirty="0">
                <a:solidFill>
                  <a:srgbClr val="E7B93B"/>
                </a:solidFill>
                <a:latin typeface="Gmarket Sans"/>
                <a:cs typeface="Gmarket Sans"/>
              </a:rPr>
              <a:t>사람 (HITL)</a:t>
            </a:r>
          </a:p>
        </p:txBody>
      </p:sp>
      <p:sp>
        <p:nvSpPr>
          <p:cNvPr id="106" name="r"/>
          <p:cNvSpPr/>
          <p:nvPr/>
        </p:nvSpPr>
        <p:spPr>
          <a:xfrm>
            <a:off x="4953000" y="4724400"/>
            <a:ext cx="2286000" cy="25400"/>
          </a:xfrm>
          <a:prstGeom prst="rect">
            <a:avLst/>
          </a:prstGeom>
          <a:solidFill>
            <a:srgbClr val="2A35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ln"/>
          <p:cNvSpPr txBox="1"/>
          <p:nvPr/>
        </p:nvSpPr>
        <p:spPr>
          <a:xfrm>
            <a:off x="1016000" y="4953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2200" b="1" dirty="0">
                <a:solidFill>
                  <a:srgbClr val="FFFFFF"/>
                </a:solidFill>
                <a:latin typeface="Gmarket Sans"/>
                <a:cs typeface="Gmarket Sans"/>
              </a:rPr>
              <a:t>AI에게 일을 맡기되, </a:t>
            </a:r>
            <a:r>
              <a:rPr lang="ko-KR" altLang="en-US" sz="2200" b="1" dirty="0">
                <a:solidFill>
                  <a:srgbClr val="E7B93B"/>
                </a:solidFill>
                <a:latin typeface="Gmarket Sans"/>
                <a:cs typeface="Gmarket Sans"/>
              </a:rPr>
              <a:t>결정은 사람이 내린다.</a:t>
            </a:r>
          </a:p>
        </p:txBody>
      </p:sp>
    </p:spTree>
    <p:extLst>
      <p:ext uri="{BB962C8B-B14F-4D97-AF65-F5344CB8AC3E}">
        <p14:creationId xmlns:p14="http://schemas.microsoft.com/office/powerpoint/2010/main" val="911091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lBa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yebrow"/>
          <p:cNvSpPr txBox="1"/>
          <p:nvPr/>
        </p:nvSpPr>
        <p:spPr>
          <a:xfrm>
            <a:off x="1016000" y="5334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  <a:cs typeface="Pretendard"/>
              </a:rPr>
              <a:t>SCENARIO SCOPE</a:t>
            </a:r>
            <a:endParaRPr lang="ko-KR" altLang="en-US" sz="1300" b="1" dirty="0">
              <a:solidFill>
                <a:srgbClr val="06D6A0"/>
              </a:solidFill>
              <a:latin typeface="Pretendard"/>
              <a:cs typeface="Pretendard"/>
            </a:endParaRPr>
          </a:p>
        </p:txBody>
      </p:sp>
      <p:sp>
        <p:nvSpPr>
          <p:cNvPr id="71" name="Title"/>
          <p:cNvSpPr txBox="1"/>
          <p:nvPr/>
        </p:nvSpPr>
        <p:spPr>
          <a:xfrm>
            <a:off x="1016000" y="8128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FFFFFF"/>
                </a:solidFill>
                <a:latin typeface="Pretendard"/>
                <a:cs typeface="Gmarket Sans"/>
              </a:rPr>
              <a:t>오늘 강의가 다루는 범위</a:t>
            </a:r>
            <a:endParaRPr lang="ko-KR" altLang="en-US" sz="2800" b="1" dirty="0">
              <a:solidFill>
                <a:srgbClr val="FFFFFF"/>
              </a:solidFill>
              <a:latin typeface="Pretendard"/>
              <a:cs typeface="Gmarket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6CC15-8CA4-49A7-9517-4C1EF12A8D4E}"/>
              </a:ext>
            </a:extLst>
          </p:cNvPr>
          <p:cNvSpPr txBox="1"/>
          <p:nvPr/>
        </p:nvSpPr>
        <p:spPr>
          <a:xfrm>
            <a:off x="1016000" y="1371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>
                <a:solidFill>
                  <a:srgbClr val="A8B2D8"/>
                </a:solidFill>
                <a:latin typeface="Pretendard"/>
              </a:rPr>
              <a:t>일반 채용 프로세스 중 오늘은 ‘서류 합격 판정’까지 직접 구현합니다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27433-3572-4B08-B01B-8BBDF6C980D8}"/>
              </a:ext>
            </a:extLst>
          </p:cNvPr>
          <p:cNvSpPr txBox="1"/>
          <p:nvPr/>
        </p:nvSpPr>
        <p:spPr>
          <a:xfrm>
            <a:off x="1016000" y="18796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STEP 1–5 · </a:t>
            </a:r>
            <a:r>
              <a:rPr lang="ko-KR" altLang="en-US" sz="1300" b="1">
                <a:solidFill>
                  <a:srgbClr val="06D6A0"/>
                </a:solidFill>
                <a:latin typeface="Pretendard"/>
              </a:rPr>
              <a:t>오늘 강의에서 직접 구현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890E10C-04CC-4B40-BE13-12792D9CB226}"/>
              </a:ext>
            </a:extLst>
          </p:cNvPr>
          <p:cNvSpPr/>
          <p:nvPr/>
        </p:nvSpPr>
        <p:spPr>
          <a:xfrm>
            <a:off x="1016000" y="2286000"/>
            <a:ext cx="1752600" cy="1066800"/>
          </a:xfrm>
          <a:prstGeom prst="roundRect">
            <a:avLst/>
          </a:prstGeom>
          <a:solidFill>
            <a:srgbClr val="12243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5802A37-71ED-48E3-97F5-2A745233F5E9}"/>
              </a:ext>
            </a:extLst>
          </p:cNvPr>
          <p:cNvSpPr/>
          <p:nvPr/>
        </p:nvSpPr>
        <p:spPr>
          <a:xfrm>
            <a:off x="1752600" y="2413000"/>
            <a:ext cx="279400" cy="2794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F1535"/>
                </a:solidFill>
                <a:latin typeface="Pretendard"/>
              </a:rPr>
              <a:t>1</a:t>
            </a:r>
            <a:endParaRPr lang="ko-KR" altLang="en-US" sz="1100" b="1" dirty="0">
              <a:solidFill>
                <a:srgbClr val="0F1535"/>
              </a:solidFill>
              <a:latin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0C0DD-12D4-4D2E-9FAD-927D6E0D7588}"/>
              </a:ext>
            </a:extLst>
          </p:cNvPr>
          <p:cNvSpPr txBox="1"/>
          <p:nvPr/>
        </p:nvSpPr>
        <p:spPr>
          <a:xfrm>
            <a:off x="1092200" y="2768600"/>
            <a:ext cx="1600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이력서
수집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105C2-824B-4339-BD23-50E3AB639FEB}"/>
              </a:ext>
            </a:extLst>
          </p:cNvPr>
          <p:cNvSpPr txBox="1"/>
          <p:nvPr/>
        </p:nvSpPr>
        <p:spPr>
          <a:xfrm>
            <a:off x="2718122" y="2634734"/>
            <a:ext cx="393057" cy="369332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ctr"/>
            <a:r>
              <a:rPr lang="ko-KR" altLang="en-US" b="1">
                <a:solidFill>
                  <a:srgbClr val="06D6A0"/>
                </a:solidFill>
                <a:latin typeface="Pretendard"/>
              </a:rPr>
              <a:t>→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F1405D1-EBCB-4813-BD12-EECB8232B248}"/>
              </a:ext>
            </a:extLst>
          </p:cNvPr>
          <p:cNvSpPr/>
          <p:nvPr/>
        </p:nvSpPr>
        <p:spPr>
          <a:xfrm>
            <a:off x="3060700" y="2286000"/>
            <a:ext cx="1752600" cy="1066800"/>
          </a:xfrm>
          <a:prstGeom prst="roundRect">
            <a:avLst/>
          </a:prstGeom>
          <a:solidFill>
            <a:srgbClr val="12243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EDC7047-05CA-4CBE-9A80-CDBF6CDBA3E9}"/>
              </a:ext>
            </a:extLst>
          </p:cNvPr>
          <p:cNvSpPr/>
          <p:nvPr/>
        </p:nvSpPr>
        <p:spPr>
          <a:xfrm>
            <a:off x="3797300" y="2413000"/>
            <a:ext cx="279400" cy="2794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>
                <a:solidFill>
                  <a:srgbClr val="0F1535"/>
                </a:solidFill>
                <a:latin typeface="Pretendard"/>
              </a:rPr>
              <a:t>2</a:t>
            </a:r>
            <a:endParaRPr lang="ko-KR" altLang="en-US" sz="1100" b="1">
              <a:solidFill>
                <a:srgbClr val="0F1535"/>
              </a:solidFill>
              <a:latin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7A82E-BEAC-49A5-A7DB-19614CEDA6A7}"/>
              </a:ext>
            </a:extLst>
          </p:cNvPr>
          <p:cNvSpPr txBox="1"/>
          <p:nvPr/>
        </p:nvSpPr>
        <p:spPr>
          <a:xfrm>
            <a:off x="3136900" y="2768600"/>
            <a:ext cx="1600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AI
</a:t>
            </a:r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요약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47DB69-7150-4431-BC0F-BC96FF8FC3FC}"/>
              </a:ext>
            </a:extLst>
          </p:cNvPr>
          <p:cNvSpPr txBox="1"/>
          <p:nvPr/>
        </p:nvSpPr>
        <p:spPr>
          <a:xfrm>
            <a:off x="4762822" y="2634734"/>
            <a:ext cx="393057" cy="369332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ctr"/>
            <a:r>
              <a:rPr lang="ko-KR" altLang="en-US" b="1">
                <a:solidFill>
                  <a:srgbClr val="06D6A0"/>
                </a:solidFill>
                <a:latin typeface="Pretendard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DA6E7C1-1C5B-4530-94EB-AA1E9FF3B280}"/>
              </a:ext>
            </a:extLst>
          </p:cNvPr>
          <p:cNvSpPr/>
          <p:nvPr/>
        </p:nvSpPr>
        <p:spPr>
          <a:xfrm>
            <a:off x="5105400" y="2286000"/>
            <a:ext cx="1752600" cy="1066800"/>
          </a:xfrm>
          <a:prstGeom prst="roundRect">
            <a:avLst/>
          </a:prstGeom>
          <a:solidFill>
            <a:srgbClr val="12243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6816FF8-0785-4276-A329-CCA3D266D964}"/>
              </a:ext>
            </a:extLst>
          </p:cNvPr>
          <p:cNvSpPr/>
          <p:nvPr/>
        </p:nvSpPr>
        <p:spPr>
          <a:xfrm>
            <a:off x="5842000" y="2413000"/>
            <a:ext cx="279400" cy="2794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>
                <a:solidFill>
                  <a:srgbClr val="0F1535"/>
                </a:solidFill>
                <a:latin typeface="Pretendard"/>
              </a:rPr>
              <a:t>3</a:t>
            </a:r>
            <a:endParaRPr lang="ko-KR" altLang="en-US" sz="1100" b="1">
              <a:solidFill>
                <a:srgbClr val="0F1535"/>
              </a:solidFill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10A86-CE53-4F92-BBA6-978C903D124A}"/>
              </a:ext>
            </a:extLst>
          </p:cNvPr>
          <p:cNvSpPr txBox="1"/>
          <p:nvPr/>
        </p:nvSpPr>
        <p:spPr>
          <a:xfrm>
            <a:off x="5181600" y="2768600"/>
            <a:ext cx="1600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적합도
판단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5BC825-E255-4D73-87E9-28E3AAFB6F24}"/>
              </a:ext>
            </a:extLst>
          </p:cNvPr>
          <p:cNvSpPr txBox="1"/>
          <p:nvPr/>
        </p:nvSpPr>
        <p:spPr>
          <a:xfrm>
            <a:off x="6807522" y="2634734"/>
            <a:ext cx="393057" cy="369332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ctr"/>
            <a:r>
              <a:rPr lang="ko-KR" altLang="en-US" b="1">
                <a:solidFill>
                  <a:srgbClr val="06D6A0"/>
                </a:solidFill>
                <a:latin typeface="Pretendard"/>
              </a:rPr>
              <a:t>→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582BE54-3980-4DE9-910B-AD2DDA8CCBD8}"/>
              </a:ext>
            </a:extLst>
          </p:cNvPr>
          <p:cNvSpPr/>
          <p:nvPr/>
        </p:nvSpPr>
        <p:spPr>
          <a:xfrm>
            <a:off x="7150100" y="2286000"/>
            <a:ext cx="1752600" cy="1066800"/>
          </a:xfrm>
          <a:prstGeom prst="roundRect">
            <a:avLst/>
          </a:prstGeom>
          <a:solidFill>
            <a:srgbClr val="12243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741C4D9-72AF-44DA-8602-65731B6BFB31}"/>
              </a:ext>
            </a:extLst>
          </p:cNvPr>
          <p:cNvSpPr/>
          <p:nvPr/>
        </p:nvSpPr>
        <p:spPr>
          <a:xfrm>
            <a:off x="7886700" y="2413000"/>
            <a:ext cx="279400" cy="2794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>
                <a:solidFill>
                  <a:srgbClr val="0F1535"/>
                </a:solidFill>
                <a:latin typeface="Pretendard"/>
              </a:rPr>
              <a:t>4</a:t>
            </a:r>
            <a:endParaRPr lang="ko-KR" altLang="en-US" sz="1100" b="1">
              <a:solidFill>
                <a:srgbClr val="0F1535"/>
              </a:solidFill>
              <a:latin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AFE7F-5BBC-4A95-AC9D-EDF08C9A535A}"/>
              </a:ext>
            </a:extLst>
          </p:cNvPr>
          <p:cNvSpPr txBox="1"/>
          <p:nvPr/>
        </p:nvSpPr>
        <p:spPr>
          <a:xfrm>
            <a:off x="7226300" y="2768600"/>
            <a:ext cx="1600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면접질문
생성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E7F2D-AF36-4F9C-B226-011122A4DFC4}"/>
              </a:ext>
            </a:extLst>
          </p:cNvPr>
          <p:cNvSpPr txBox="1"/>
          <p:nvPr/>
        </p:nvSpPr>
        <p:spPr>
          <a:xfrm>
            <a:off x="8852222" y="2634734"/>
            <a:ext cx="393057" cy="369332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ctr"/>
            <a:r>
              <a:rPr lang="ko-KR" altLang="en-US" b="1">
                <a:solidFill>
                  <a:srgbClr val="06D6A0"/>
                </a:solidFill>
                <a:latin typeface="Pretendard"/>
              </a:rPr>
              <a:t>→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4877A22-65AE-4F28-A8D3-104157989ABA}"/>
              </a:ext>
            </a:extLst>
          </p:cNvPr>
          <p:cNvSpPr/>
          <p:nvPr/>
        </p:nvSpPr>
        <p:spPr>
          <a:xfrm>
            <a:off x="9194800" y="2286000"/>
            <a:ext cx="1752600" cy="1066800"/>
          </a:xfrm>
          <a:prstGeom prst="roundRect">
            <a:avLst/>
          </a:prstGeom>
          <a:solidFill>
            <a:srgbClr val="12243A"/>
          </a:solidFill>
          <a:ln w="19050" cap="flat" cmpd="sng" algn="ctr">
            <a:solidFill>
              <a:srgbClr val="06D6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44077B8-60CA-4AE0-B343-02DE5E05688B}"/>
              </a:ext>
            </a:extLst>
          </p:cNvPr>
          <p:cNvSpPr/>
          <p:nvPr/>
        </p:nvSpPr>
        <p:spPr>
          <a:xfrm>
            <a:off x="9931400" y="2413000"/>
            <a:ext cx="279400" cy="279400"/>
          </a:xfrm>
          <a:prstGeom prst="ellipse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>
                <a:solidFill>
                  <a:srgbClr val="0F1535"/>
                </a:solidFill>
                <a:latin typeface="Pretendard"/>
              </a:rPr>
              <a:t>5</a:t>
            </a:r>
            <a:endParaRPr lang="ko-KR" altLang="en-US" sz="1100" b="1">
              <a:solidFill>
                <a:srgbClr val="0F1535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449DB9-64BF-4BF1-89AE-ABAAE414BB4A}"/>
              </a:ext>
            </a:extLst>
          </p:cNvPr>
          <p:cNvSpPr txBox="1"/>
          <p:nvPr/>
        </p:nvSpPr>
        <p:spPr>
          <a:xfrm>
            <a:off x="9271000" y="2768600"/>
            <a:ext cx="1600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서류 합격
변경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A19A472-D2C2-4A0B-B2DE-E681EBD7C61F}"/>
              </a:ext>
            </a:extLst>
          </p:cNvPr>
          <p:cNvSpPr/>
          <p:nvPr/>
        </p:nvSpPr>
        <p:spPr>
          <a:xfrm>
            <a:off x="1016000" y="3810000"/>
            <a:ext cx="10160000" cy="127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161E81-22B7-4440-87FD-2AD98D41B616}"/>
              </a:ext>
            </a:extLst>
          </p:cNvPr>
          <p:cNvSpPr txBox="1"/>
          <p:nvPr/>
        </p:nvSpPr>
        <p:spPr>
          <a:xfrm>
            <a:off x="1016000" y="40386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8893B5"/>
                </a:solidFill>
                <a:latin typeface="Pretendard"/>
              </a:rPr>
              <a:t>STEP 6–8 · </a:t>
            </a:r>
            <a:r>
              <a:rPr lang="ko-KR" altLang="en-US" sz="1300" b="1">
                <a:solidFill>
                  <a:srgbClr val="8893B5"/>
                </a:solidFill>
                <a:latin typeface="Pretendard"/>
              </a:rPr>
              <a:t>향후 확장 가능 영역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F8BBD8B-8C23-4AB2-9931-AF78D7EBC96C}"/>
              </a:ext>
            </a:extLst>
          </p:cNvPr>
          <p:cNvSpPr/>
          <p:nvPr/>
        </p:nvSpPr>
        <p:spPr>
          <a:xfrm>
            <a:off x="1016000" y="4445000"/>
            <a:ext cx="1905000" cy="838200"/>
          </a:xfrm>
          <a:prstGeom prst="roundRect">
            <a:avLst/>
          </a:prstGeom>
          <a:solidFill>
            <a:srgbClr val="0A0F1E"/>
          </a:solidFill>
          <a:ln w="15875" cap="flat" cmpd="sng" algn="ctr">
            <a:solidFill>
              <a:srgbClr val="4D5FA0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0D4B8AC3-7D4F-4E7D-A072-B830CC047884}"/>
              </a:ext>
            </a:extLst>
          </p:cNvPr>
          <p:cNvSpPr/>
          <p:nvPr/>
        </p:nvSpPr>
        <p:spPr>
          <a:xfrm>
            <a:off x="1841500" y="4546600"/>
            <a:ext cx="254000" cy="254000"/>
          </a:xfrm>
          <a:prstGeom prst="ellipse">
            <a:avLst/>
          </a:prstGeom>
          <a:solidFill>
            <a:srgbClr val="2E3A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Pretendard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6410CA-7131-4538-82FC-FD86C99A741A}"/>
              </a:ext>
            </a:extLst>
          </p:cNvPr>
          <p:cNvSpPr txBox="1"/>
          <p:nvPr/>
        </p:nvSpPr>
        <p:spPr>
          <a:xfrm>
            <a:off x="1092200" y="4826000"/>
            <a:ext cx="1752600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200" b="1">
                <a:solidFill>
                  <a:srgbClr val="8893B5"/>
                </a:solidFill>
                <a:latin typeface="Pretendard"/>
              </a:rPr>
              <a:t>면접
일정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39DBA-8565-4656-A1D2-B6E7862C549E}"/>
              </a:ext>
            </a:extLst>
          </p:cNvPr>
          <p:cNvSpPr txBox="1"/>
          <p:nvPr/>
        </p:nvSpPr>
        <p:spPr>
          <a:xfrm>
            <a:off x="2978472" y="4679434"/>
            <a:ext cx="393057" cy="369332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ctr"/>
            <a:r>
              <a:rPr lang="ko-KR" altLang="en-US" b="1">
                <a:solidFill>
                  <a:srgbClr val="4D5FA0"/>
                </a:solidFill>
                <a:latin typeface="Pretendard"/>
              </a:rPr>
              <a:t>→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7070AE0-332E-42F7-BBE3-FFCE7FEB0412}"/>
              </a:ext>
            </a:extLst>
          </p:cNvPr>
          <p:cNvSpPr/>
          <p:nvPr/>
        </p:nvSpPr>
        <p:spPr>
          <a:xfrm>
            <a:off x="3429000" y="4445000"/>
            <a:ext cx="1905000" cy="838200"/>
          </a:xfrm>
          <a:prstGeom prst="roundRect">
            <a:avLst/>
          </a:prstGeom>
          <a:solidFill>
            <a:srgbClr val="0A0F1E"/>
          </a:solidFill>
          <a:ln w="15875" cap="flat" cmpd="sng" algn="ctr">
            <a:solidFill>
              <a:srgbClr val="4D5FA0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2C3B021-A743-4DDB-9BF7-6443175D9EAF}"/>
              </a:ext>
            </a:extLst>
          </p:cNvPr>
          <p:cNvSpPr/>
          <p:nvPr/>
        </p:nvSpPr>
        <p:spPr>
          <a:xfrm>
            <a:off x="4254500" y="4546600"/>
            <a:ext cx="254000" cy="254000"/>
          </a:xfrm>
          <a:prstGeom prst="ellipse">
            <a:avLst/>
          </a:prstGeom>
          <a:solidFill>
            <a:srgbClr val="2E3A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Pretendard"/>
              </a:rPr>
              <a:t>7</a:t>
            </a:r>
            <a:endParaRPr lang="ko-KR" altLang="en-US" sz="11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6B51C9-6318-43D2-A662-67D62333F04C}"/>
              </a:ext>
            </a:extLst>
          </p:cNvPr>
          <p:cNvSpPr txBox="1"/>
          <p:nvPr/>
        </p:nvSpPr>
        <p:spPr>
          <a:xfrm>
            <a:off x="3505200" y="4826000"/>
            <a:ext cx="1752600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200" b="1">
                <a:solidFill>
                  <a:srgbClr val="8893B5"/>
                </a:solidFill>
                <a:latin typeface="Pretendard"/>
              </a:rPr>
              <a:t>면접
합격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B09F60-B7D9-4C23-99C0-983374FD99C5}"/>
              </a:ext>
            </a:extLst>
          </p:cNvPr>
          <p:cNvSpPr txBox="1"/>
          <p:nvPr/>
        </p:nvSpPr>
        <p:spPr>
          <a:xfrm>
            <a:off x="5391472" y="4679434"/>
            <a:ext cx="393057" cy="369332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ctr"/>
            <a:r>
              <a:rPr lang="ko-KR" altLang="en-US" b="1">
                <a:solidFill>
                  <a:srgbClr val="4D5FA0"/>
                </a:solidFill>
                <a:latin typeface="Pretendard"/>
              </a:rPr>
              <a:t>→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0A05E0C-1822-49AA-B7C2-EFDC55620B0D}"/>
              </a:ext>
            </a:extLst>
          </p:cNvPr>
          <p:cNvSpPr/>
          <p:nvPr/>
        </p:nvSpPr>
        <p:spPr>
          <a:xfrm>
            <a:off x="5842000" y="4445000"/>
            <a:ext cx="1905000" cy="838200"/>
          </a:xfrm>
          <a:prstGeom prst="roundRect">
            <a:avLst/>
          </a:prstGeom>
          <a:solidFill>
            <a:srgbClr val="0A0F1E"/>
          </a:solidFill>
          <a:ln w="15875" cap="flat" cmpd="sng" algn="ctr">
            <a:solidFill>
              <a:srgbClr val="4D5FA0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1F84339-8EBE-4564-83A3-B415ECF25688}"/>
              </a:ext>
            </a:extLst>
          </p:cNvPr>
          <p:cNvSpPr/>
          <p:nvPr/>
        </p:nvSpPr>
        <p:spPr>
          <a:xfrm>
            <a:off x="6667500" y="4546600"/>
            <a:ext cx="254000" cy="254000"/>
          </a:xfrm>
          <a:prstGeom prst="ellipse">
            <a:avLst/>
          </a:prstGeom>
          <a:solidFill>
            <a:srgbClr val="2E3A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Pretendard"/>
              </a:rPr>
              <a:t>8</a:t>
            </a:r>
            <a:endParaRPr lang="ko-KR" altLang="en-US" sz="11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F04AD9-72B8-41E5-B3AB-2A932C67A073}"/>
              </a:ext>
            </a:extLst>
          </p:cNvPr>
          <p:cNvSpPr txBox="1"/>
          <p:nvPr/>
        </p:nvSpPr>
        <p:spPr>
          <a:xfrm>
            <a:off x="5918200" y="4826000"/>
            <a:ext cx="1752600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ko-KR" altLang="en-US" sz="1200" b="1">
                <a:solidFill>
                  <a:srgbClr val="8893B5"/>
                </a:solidFill>
                <a:latin typeface="Pretendard"/>
              </a:rPr>
              <a:t>최종
합격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5A9933-F05B-41E3-B8A4-0F5C45239A28}"/>
              </a:ext>
            </a:extLst>
          </p:cNvPr>
          <p:cNvSpPr txBox="1"/>
          <p:nvPr/>
        </p:nvSpPr>
        <p:spPr>
          <a:xfrm>
            <a:off x="8128000" y="4673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 i="1">
                <a:solidFill>
                  <a:srgbClr val="8893B5"/>
                </a:solidFill>
                <a:latin typeface="Pretendard"/>
              </a:rPr>
              <a:t>← 오늘 기반 위에 확장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1D91A0-695F-4B10-9387-E25F8CEF872D}"/>
              </a:ext>
            </a:extLst>
          </p:cNvPr>
          <p:cNvSpPr txBox="1"/>
          <p:nvPr/>
        </p:nvSpPr>
        <p:spPr>
          <a:xfrm>
            <a:off x="1016000" y="59690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6B7BA4"/>
                </a:solidFill>
                <a:latin typeface="Pretendard"/>
              </a:rPr>
              <a:t>오늘 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= 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수집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·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요약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·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평가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·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면접질문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·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서류판정  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/  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향후 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= 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면접 일정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·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합격</a:t>
            </a:r>
            <a:r>
              <a:rPr lang="en-US" altLang="ko-KR" sz="1100">
                <a:solidFill>
                  <a:srgbClr val="6B7BA4"/>
                </a:solidFill>
                <a:latin typeface="Pretendard"/>
              </a:rPr>
              <a:t>·</a:t>
            </a:r>
            <a:r>
              <a:rPr lang="ko-KR" altLang="en-US" sz="1100">
                <a:solidFill>
                  <a:srgbClr val="6B7BA4"/>
                </a:solidFill>
                <a:latin typeface="Pretendard"/>
              </a:rPr>
              <a:t>최종 단계로 확장</a:t>
            </a:r>
          </a:p>
        </p:txBody>
      </p:sp>
    </p:spTree>
    <p:extLst>
      <p:ext uri="{BB962C8B-B14F-4D97-AF65-F5344CB8AC3E}">
        <p14:creationId xmlns:p14="http://schemas.microsoft.com/office/powerpoint/2010/main" val="187394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B398E8-8FB5-4CE5-9C00-0601297A64A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2A6DB-100F-41F3-9B70-7E7EDF8585EF}"/>
              </a:ext>
            </a:extLst>
          </p:cNvPr>
          <p:cNvSpPr txBox="1"/>
          <p:nvPr/>
        </p:nvSpPr>
        <p:spPr>
          <a:xfrm>
            <a:off x="1016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TODAY'S SCENARIO</a:t>
            </a:r>
            <a:endParaRPr lang="ko-KR" altLang="en-US" sz="13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65BFA-2B6C-42CA-BB93-88C140B18316}"/>
              </a:ext>
            </a:extLst>
          </p:cNvPr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2800" b="1">
                <a:solidFill>
                  <a:srgbClr val="FFFFFF"/>
                </a:solidFill>
                <a:latin typeface="Pretendard"/>
              </a:rPr>
              <a:t>오늘의 시나리오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4EC42B-BDD2-4230-8ED9-2A83C0952611}"/>
              </a:ext>
            </a:extLst>
          </p:cNvPr>
          <p:cNvSpPr/>
          <p:nvPr/>
        </p:nvSpPr>
        <p:spPr>
          <a:xfrm>
            <a:off x="1016000" y="1422400"/>
            <a:ext cx="10160000" cy="127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555F53-E2F0-4975-9B56-D82B24DCC90E}"/>
              </a:ext>
            </a:extLst>
          </p:cNvPr>
          <p:cNvSpPr/>
          <p:nvPr/>
        </p:nvSpPr>
        <p:spPr>
          <a:xfrm>
            <a:off x="1016000" y="1676400"/>
            <a:ext cx="4889500" cy="4368800"/>
          </a:xfrm>
          <a:prstGeom prst="roundRect">
            <a:avLst/>
          </a:prstGeom>
          <a:solidFill>
            <a:srgbClr val="1A0D0D"/>
          </a:solidFill>
          <a:ln w="12700" cap="flat" cmpd="sng" algn="ctr">
            <a:solidFill>
              <a:srgbClr val="241A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CD0756-2B0E-424A-85CF-22931C58755C}"/>
              </a:ext>
            </a:extLst>
          </p:cNvPr>
          <p:cNvSpPr/>
          <p:nvPr/>
        </p:nvSpPr>
        <p:spPr>
          <a:xfrm>
            <a:off x="1016000" y="1676400"/>
            <a:ext cx="4889500" cy="76200"/>
          </a:xfrm>
          <a:prstGeom prst="rect">
            <a:avLst/>
          </a:prstGeom>
          <a:solidFill>
            <a:srgbClr val="E74C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05D96-9C0F-4363-9969-3DF0385F1CD1}"/>
              </a:ext>
            </a:extLst>
          </p:cNvPr>
          <p:cNvSpPr txBox="1"/>
          <p:nvPr/>
        </p:nvSpPr>
        <p:spPr>
          <a:xfrm>
            <a:off x="1320800" y="1930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>
                <a:solidFill>
                  <a:srgbClr val="E74C3C"/>
                </a:solidFill>
                <a:latin typeface="Pretendard"/>
              </a:rPr>
              <a:t>BEFORE</a:t>
            </a:r>
            <a:endParaRPr lang="ko-KR" altLang="en-US" sz="1100" b="1">
              <a:solidFill>
                <a:srgbClr val="E74C3C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45425-4418-4E81-BED3-1E82AE91FBC8}"/>
              </a:ext>
            </a:extLst>
          </p:cNvPr>
          <p:cNvSpPr txBox="1"/>
          <p:nvPr/>
        </p:nvSpPr>
        <p:spPr>
          <a:xfrm>
            <a:off x="1320800" y="2184400"/>
            <a:ext cx="4279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지금 채용담당자의 현실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D5B809-7226-4C8E-8508-26A6FBEBF0D9}"/>
              </a:ext>
            </a:extLst>
          </p:cNvPr>
          <p:cNvSpPr/>
          <p:nvPr/>
        </p:nvSpPr>
        <p:spPr>
          <a:xfrm>
            <a:off x="1320800" y="2616200"/>
            <a:ext cx="4279900" cy="12700"/>
          </a:xfrm>
          <a:prstGeom prst="rect">
            <a:avLst/>
          </a:prstGeom>
          <a:solidFill>
            <a:srgbClr val="2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EF827-35F2-401B-BDD9-43A773018075}"/>
              </a:ext>
            </a:extLst>
          </p:cNvPr>
          <p:cNvSpPr txBox="1"/>
          <p:nvPr/>
        </p:nvSpPr>
        <p:spPr>
          <a:xfrm>
            <a:off x="1320800" y="28194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A8B2D8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A8B2D8"/>
                </a:solidFill>
                <a:latin typeface="Pretendard"/>
              </a:rPr>
              <a:t>이력서 </a:t>
            </a:r>
            <a:r>
              <a:rPr lang="en-US" altLang="ko-KR" sz="1300">
                <a:solidFill>
                  <a:srgbClr val="A8B2D8"/>
                </a:solidFill>
                <a:latin typeface="Pretendard"/>
              </a:rPr>
              <a:t>42</a:t>
            </a:r>
            <a:r>
              <a:rPr lang="ko-KR" altLang="en-US" sz="1300">
                <a:solidFill>
                  <a:srgbClr val="A8B2D8"/>
                </a:solidFill>
                <a:latin typeface="Pretendard"/>
              </a:rPr>
              <a:t>건이 메일 첨부로 흩어짐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4ACC3-F37D-4AAE-844E-8416FADC713D}"/>
              </a:ext>
            </a:extLst>
          </p:cNvPr>
          <p:cNvSpPr txBox="1"/>
          <p:nvPr/>
        </p:nvSpPr>
        <p:spPr>
          <a:xfrm>
            <a:off x="1320800" y="32512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A8B2D8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A8B2D8"/>
                </a:solidFill>
                <a:latin typeface="Pretendard"/>
              </a:rPr>
              <a:t>첨부 열어 복사 → 엑셀 반복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C1CA6C-B696-4B81-9631-821574DD54CF}"/>
              </a:ext>
            </a:extLst>
          </p:cNvPr>
          <p:cNvSpPr txBox="1"/>
          <p:nvPr/>
        </p:nvSpPr>
        <p:spPr>
          <a:xfrm>
            <a:off x="1320800" y="36830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A8B2D8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A8B2D8"/>
                </a:solidFill>
                <a:latin typeface="Pretendard"/>
              </a:rPr>
              <a:t>승인 여부 이메일 수동 회신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8C15CE-CD26-430B-9040-3DA7555036D5}"/>
              </a:ext>
            </a:extLst>
          </p:cNvPr>
          <p:cNvSpPr txBox="1"/>
          <p:nvPr/>
        </p:nvSpPr>
        <p:spPr>
          <a:xfrm>
            <a:off x="1320800" y="41148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A8B2D8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A8B2D8"/>
                </a:solidFill>
                <a:latin typeface="Pretendard"/>
              </a:rPr>
              <a:t>면접 확정 채팅으로 따로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1175B-15BA-49B2-A693-0CED26994D30}"/>
              </a:ext>
            </a:extLst>
          </p:cNvPr>
          <p:cNvSpPr txBox="1"/>
          <p:nvPr/>
        </p:nvSpPr>
        <p:spPr>
          <a:xfrm>
            <a:off x="1320800" y="45466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A8B2D8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A8B2D8"/>
                </a:solidFill>
                <a:latin typeface="Pretendard"/>
              </a:rPr>
              <a:t>중요 지원자 놓치는 경우 발생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AD2C743-397B-44C2-B1A3-C8B84BD1B530}"/>
              </a:ext>
            </a:extLst>
          </p:cNvPr>
          <p:cNvSpPr/>
          <p:nvPr/>
        </p:nvSpPr>
        <p:spPr>
          <a:xfrm>
            <a:off x="6286500" y="1676400"/>
            <a:ext cx="4889500" cy="4368800"/>
          </a:xfrm>
          <a:prstGeom prst="roundRect">
            <a:avLst/>
          </a:prstGeom>
          <a:solidFill>
            <a:srgbClr val="0D1A0D"/>
          </a:solidFill>
          <a:ln w="12700" cap="flat" cmpd="sng" algn="ctr">
            <a:solidFill>
              <a:srgbClr val="241A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C794C36-B04B-4AE5-845D-1DA3DBFF271A}"/>
              </a:ext>
            </a:extLst>
          </p:cNvPr>
          <p:cNvSpPr/>
          <p:nvPr/>
        </p:nvSpPr>
        <p:spPr>
          <a:xfrm>
            <a:off x="6286500" y="1676400"/>
            <a:ext cx="4889500" cy="762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335204-EDEE-4627-9996-8FFC4A387EDA}"/>
              </a:ext>
            </a:extLst>
          </p:cNvPr>
          <p:cNvSpPr txBox="1"/>
          <p:nvPr/>
        </p:nvSpPr>
        <p:spPr>
          <a:xfrm>
            <a:off x="6591300" y="1930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>
                <a:solidFill>
                  <a:srgbClr val="06D6A0"/>
                </a:solidFill>
                <a:latin typeface="Pretendard"/>
              </a:rPr>
              <a:t>AFTER</a:t>
            </a:r>
            <a:endParaRPr lang="ko-KR" altLang="en-US" sz="11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76400F-3A24-4335-BF98-9E328C7E1E86}"/>
              </a:ext>
            </a:extLst>
          </p:cNvPr>
          <p:cNvSpPr txBox="1"/>
          <p:nvPr/>
        </p:nvSpPr>
        <p:spPr>
          <a:xfrm>
            <a:off x="6591300" y="2184400"/>
            <a:ext cx="4279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오늘 만드는 시스템으로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2A8EFC-9F95-4023-AD47-7138C101042B}"/>
              </a:ext>
            </a:extLst>
          </p:cNvPr>
          <p:cNvSpPr/>
          <p:nvPr/>
        </p:nvSpPr>
        <p:spPr>
          <a:xfrm>
            <a:off x="6591300" y="2616200"/>
            <a:ext cx="4279900" cy="12700"/>
          </a:xfrm>
          <a:prstGeom prst="rect">
            <a:avLst/>
          </a:prstGeom>
          <a:solidFill>
            <a:srgbClr val="10281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855563-099A-4DCB-BA05-22B5D623D494}"/>
              </a:ext>
            </a:extLst>
          </p:cNvPr>
          <p:cNvSpPr txBox="1"/>
          <p:nvPr/>
        </p:nvSpPr>
        <p:spPr>
          <a:xfrm>
            <a:off x="6591300" y="28194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이메일 도착 → </a:t>
            </a:r>
            <a:r>
              <a:rPr lang="en-US" altLang="ko-KR" sz="1300">
                <a:solidFill>
                  <a:srgbClr val="FFFFFF"/>
                </a:solidFill>
                <a:latin typeface="Pretendard"/>
              </a:rPr>
              <a:t>AI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가 즉시 추출</a:t>
            </a:r>
            <a:r>
              <a:rPr lang="en-US" altLang="ko-KR" sz="1300">
                <a:solidFill>
                  <a:srgbClr val="FFFFFF"/>
                </a:solidFill>
                <a:latin typeface="Pretendard"/>
              </a:rPr>
              <a:t>·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305690-BC19-4236-A775-9C020EDDDA7F}"/>
              </a:ext>
            </a:extLst>
          </p:cNvPr>
          <p:cNvSpPr txBox="1"/>
          <p:nvPr/>
        </p:nvSpPr>
        <p:spPr>
          <a:xfrm>
            <a:off x="6591300" y="32512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요약 품질 </a:t>
            </a:r>
            <a:r>
              <a:rPr lang="en-US" altLang="ko-KR" sz="1300">
                <a:solidFill>
                  <a:srgbClr val="FFFFFF"/>
                </a:solidFill>
                <a:latin typeface="Pretendard"/>
              </a:rPr>
              <a:t>Teams/Outlook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으로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239AD-BA79-43E3-9FCC-9B8357DF7689}"/>
              </a:ext>
            </a:extLst>
          </p:cNvPr>
          <p:cNvSpPr txBox="1"/>
          <p:nvPr/>
        </p:nvSpPr>
        <p:spPr>
          <a:xfrm>
            <a:off x="6591300" y="36830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승인된 지원자만 챗봇 조회 가능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BAC886-F2A8-4508-AD29-5A7622D48605}"/>
              </a:ext>
            </a:extLst>
          </p:cNvPr>
          <p:cNvSpPr txBox="1"/>
          <p:nvPr/>
        </p:nvSpPr>
        <p:spPr>
          <a:xfrm>
            <a:off x="6591300" y="41148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Pretendard"/>
              </a:rPr>
              <a:t>•  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면접관이 채팅으로 바로 상태 변경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787C7C-E53B-4210-9B46-4BF02B37BE60}"/>
              </a:ext>
            </a:extLst>
          </p:cNvPr>
          <p:cNvSpPr txBox="1"/>
          <p:nvPr/>
        </p:nvSpPr>
        <p:spPr>
          <a:xfrm>
            <a:off x="6591300" y="4546600"/>
            <a:ext cx="4279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Pretendard"/>
              </a:rPr>
              <a:t>•  42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건 이력서 전원 데이터화</a:t>
            </a:r>
            <a:r>
              <a:rPr lang="en-US" altLang="ko-KR" sz="1300">
                <a:solidFill>
                  <a:srgbClr val="FFFFFF"/>
                </a:solidFill>
                <a:latin typeface="Pretendard"/>
              </a:rPr>
              <a:t>·</a:t>
            </a:r>
            <a:r>
              <a:rPr lang="ko-KR" altLang="en-US" sz="1300">
                <a:solidFill>
                  <a:srgbClr val="FFFFFF"/>
                </a:solidFill>
                <a:latin typeface="Pretendard"/>
              </a:rPr>
              <a:t>검색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F7663-4B61-4DAF-8508-6B307E6F3D95}"/>
              </a:ext>
            </a:extLst>
          </p:cNvPr>
          <p:cNvSpPr txBox="1"/>
          <p:nvPr/>
        </p:nvSpPr>
        <p:spPr>
          <a:xfrm>
            <a:off x="6591300" y="5638800"/>
            <a:ext cx="42799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 b="1">
                <a:solidFill>
                  <a:srgbClr val="06D6A0"/>
                </a:solidFill>
                <a:latin typeface="Pretendard"/>
              </a:rPr>
              <a:t>✓ 반복 작업 자동화 완료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78F632-D168-410A-A3FA-E53BF6D2A8D7}"/>
              </a:ext>
            </a:extLst>
          </p:cNvPr>
          <p:cNvSpPr txBox="1"/>
          <p:nvPr/>
        </p:nvSpPr>
        <p:spPr>
          <a:xfrm>
            <a:off x="1016000" y="62230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200" i="1">
                <a:solidFill>
                  <a:srgbClr val="A8B2D8"/>
                </a:solidFill>
                <a:latin typeface="Pretendard"/>
              </a:rPr>
              <a:t>오늘 이 시나리오를 직접 구현합니다 </a:t>
            </a:r>
            <a:r>
              <a:rPr lang="en-US" altLang="ko-KR" sz="1200" i="1">
                <a:solidFill>
                  <a:srgbClr val="A8B2D8"/>
                </a:solidFill>
                <a:latin typeface="Pretendard"/>
              </a:rPr>
              <a:t>— </a:t>
            </a:r>
            <a:r>
              <a:rPr lang="ko-KR" altLang="en-US" sz="1200" i="1">
                <a:solidFill>
                  <a:srgbClr val="A8B2D8"/>
                </a:solidFill>
                <a:latin typeface="Pretendard"/>
              </a:rPr>
              <a:t>이력서 </a:t>
            </a:r>
            <a:r>
              <a:rPr lang="en-US" altLang="ko-KR" sz="1200" i="1">
                <a:solidFill>
                  <a:srgbClr val="A8B2D8"/>
                </a:solidFill>
                <a:latin typeface="Pretendard"/>
              </a:rPr>
              <a:t>42</a:t>
            </a:r>
            <a:r>
              <a:rPr lang="ko-KR" altLang="en-US" sz="1200" i="1">
                <a:solidFill>
                  <a:srgbClr val="A8B2D8"/>
                </a:solidFill>
                <a:latin typeface="Pretendard"/>
              </a:rPr>
              <a:t>건</a:t>
            </a:r>
            <a:r>
              <a:rPr lang="en-US" altLang="ko-KR" sz="1200" i="1">
                <a:solidFill>
                  <a:srgbClr val="A8B2D8"/>
                </a:solidFill>
                <a:latin typeface="Pretendard"/>
              </a:rPr>
              <a:t>, 7</a:t>
            </a:r>
            <a:r>
              <a:rPr lang="ko-KR" altLang="en-US" sz="1200" i="1">
                <a:solidFill>
                  <a:srgbClr val="A8B2D8"/>
                </a:solidFill>
                <a:latin typeface="Pretendard"/>
              </a:rPr>
              <a:t>개 </a:t>
            </a:r>
            <a:r>
              <a:rPr lang="en-US" altLang="ko-KR" sz="1200" i="1">
                <a:solidFill>
                  <a:srgbClr val="A8B2D8"/>
                </a:solidFill>
                <a:latin typeface="Pretendard"/>
              </a:rPr>
              <a:t>Lab</a:t>
            </a:r>
            <a:endParaRPr lang="ko-KR" altLang="en-US" sz="1200" i="1">
              <a:solidFill>
                <a:srgbClr val="A8B2D8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8918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16000" y="508000"/>
            <a:ext cx="7620000" cy="279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rgbClr val="06D6A0"/>
                </a:solidFill>
                <a:latin typeface="Pretendard"/>
              </a:rPr>
              <a:t>GLOSSARY · 오늘 처음 보는 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이 여섯 단어만 알면 따라올 수 있습니다</a:t>
            </a:r>
          </a:p>
        </p:txBody>
      </p:sp>
      <p:sp>
        <p:nvSpPr>
          <p:cNvPr id="13" name="Shape 13"/>
          <p:cNvSpPr/>
          <p:nvPr/>
        </p:nvSpPr>
        <p:spPr>
          <a:xfrm>
            <a:off x="1016000" y="1422400"/>
            <a:ext cx="10160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4"/>
          <p:cNvSpPr/>
          <p:nvPr/>
        </p:nvSpPr>
        <p:spPr>
          <a:xfrm>
            <a:off x="1016000" y="1778000"/>
            <a:ext cx="3175000" cy="1524000"/>
          </a:xfrm>
          <a:prstGeom prst="roundRect">
            <a:avLst/>
          </a:prstGeom>
          <a:solidFill>
            <a:srgbClr val="0D1A3A"/>
          </a:solidFill>
          <a:ln w="19050">
            <a:solidFill>
              <a:srgbClr val="4361E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Box 15"/>
          <p:cNvSpPr txBox="1"/>
          <p:nvPr/>
        </p:nvSpPr>
        <p:spPr>
          <a:xfrm>
            <a:off x="1270000" y="1955800"/>
            <a:ext cx="26670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목록</a:t>
            </a:r>
            <a:r>
              <a:rPr lang="ko-KR" altLang="en-US" sz="1200" b="1" dirty="0">
                <a:solidFill>
                  <a:srgbClr val="4361EE"/>
                </a:solidFill>
                <a:latin typeface="Pretendard"/>
              </a:rPr>
              <a:t>  List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0000" y="2362200"/>
            <a:ext cx="2692400" cy="812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지원자 한 명이 한 행. 모든 정보가 모이는 단일 진실 원천</a:t>
            </a:r>
          </a:p>
        </p:txBody>
      </p:sp>
      <p:sp>
        <p:nvSpPr>
          <p:cNvPr id="17" name="Shape 17"/>
          <p:cNvSpPr/>
          <p:nvPr/>
        </p:nvSpPr>
        <p:spPr>
          <a:xfrm>
            <a:off x="4508500" y="1778000"/>
            <a:ext cx="3175000" cy="1524000"/>
          </a:xfrm>
          <a:prstGeom prst="roundRect">
            <a:avLst/>
          </a:prstGeom>
          <a:solidFill>
            <a:srgbClr val="0D1A3A"/>
          </a:solidFill>
          <a:ln w="19050">
            <a:solidFill>
              <a:srgbClr val="06D6A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Box 18"/>
          <p:cNvSpPr txBox="1"/>
          <p:nvPr/>
        </p:nvSpPr>
        <p:spPr>
          <a:xfrm>
            <a:off x="4762500" y="1955800"/>
            <a:ext cx="26670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흐름</a:t>
            </a:r>
            <a:r>
              <a:rPr lang="ko-KR" altLang="en-US" sz="1200" b="1" dirty="0">
                <a:solidFill>
                  <a:srgbClr val="06D6A0"/>
                </a:solidFill>
                <a:latin typeface="Pretendard"/>
              </a:rPr>
              <a:t>  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62500" y="2362200"/>
            <a:ext cx="2692400" cy="812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트리거 → 액션 순서로 실행. 같은 입력엔 항상 같은 결과</a:t>
            </a:r>
          </a:p>
        </p:txBody>
      </p:sp>
      <p:sp>
        <p:nvSpPr>
          <p:cNvPr id="20" name="Shape 20"/>
          <p:cNvSpPr/>
          <p:nvPr/>
        </p:nvSpPr>
        <p:spPr>
          <a:xfrm>
            <a:off x="8001000" y="1778000"/>
            <a:ext cx="3175000" cy="1524000"/>
          </a:xfrm>
          <a:prstGeom prst="roundRect">
            <a:avLst/>
          </a:prstGeom>
          <a:solidFill>
            <a:srgbClr val="0D1A3A"/>
          </a:solidFill>
          <a:ln w="19050">
            <a:solidFill>
              <a:srgbClr val="06D6A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TextBox 21"/>
          <p:cNvSpPr txBox="1"/>
          <p:nvPr/>
        </p:nvSpPr>
        <p:spPr>
          <a:xfrm>
            <a:off x="8255000" y="1955800"/>
            <a:ext cx="26670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커넥터</a:t>
            </a:r>
            <a:r>
              <a:rPr lang="ko-KR" altLang="en-US" sz="1200" b="1" dirty="0">
                <a:solidFill>
                  <a:srgbClr val="06D6A0"/>
                </a:solidFill>
                <a:latin typeface="Pretendard"/>
              </a:rPr>
              <a:t>  Connector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55000" y="2362200"/>
            <a:ext cx="2692400" cy="812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에이전트·흐름이 외부 시스템에 접근하는 연결 통로</a:t>
            </a:r>
          </a:p>
        </p:txBody>
      </p:sp>
      <p:sp>
        <p:nvSpPr>
          <p:cNvPr id="23" name="Shape 23"/>
          <p:cNvSpPr/>
          <p:nvPr/>
        </p:nvSpPr>
        <p:spPr>
          <a:xfrm>
            <a:off x="1016000" y="3505200"/>
            <a:ext cx="3175000" cy="1524000"/>
          </a:xfrm>
          <a:prstGeom prst="roundRect">
            <a:avLst/>
          </a:prstGeom>
          <a:solidFill>
            <a:srgbClr val="0D1A3A"/>
          </a:solidFill>
          <a:ln w="19050">
            <a:solidFill>
              <a:srgbClr val="B38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Box 24"/>
          <p:cNvSpPr txBox="1"/>
          <p:nvPr/>
        </p:nvSpPr>
        <p:spPr>
          <a:xfrm>
            <a:off x="1270000" y="3683000"/>
            <a:ext cx="26670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에이전트</a:t>
            </a:r>
            <a:r>
              <a:rPr lang="ko-KR" altLang="en-US" sz="1200" b="1" dirty="0">
                <a:solidFill>
                  <a:srgbClr val="B388F0"/>
                </a:solidFill>
                <a:latin typeface="Pretendard"/>
              </a:rPr>
              <a:t>  Agent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0000" y="4089400"/>
            <a:ext cx="2692400" cy="812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발화를 해석해 지식·도구를 호출하고 자연어로 답한다</a:t>
            </a:r>
          </a:p>
        </p:txBody>
      </p:sp>
      <p:sp>
        <p:nvSpPr>
          <p:cNvPr id="26" name="Shape 26"/>
          <p:cNvSpPr/>
          <p:nvPr/>
        </p:nvSpPr>
        <p:spPr>
          <a:xfrm>
            <a:off x="4508500" y="3505200"/>
            <a:ext cx="3175000" cy="1524000"/>
          </a:xfrm>
          <a:prstGeom prst="roundRect">
            <a:avLst/>
          </a:prstGeom>
          <a:solidFill>
            <a:srgbClr val="0D1A3A"/>
          </a:solidFill>
          <a:ln w="19050">
            <a:solidFill>
              <a:srgbClr val="B38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7" name="TextBox 27"/>
          <p:cNvSpPr txBox="1"/>
          <p:nvPr/>
        </p:nvSpPr>
        <p:spPr>
          <a:xfrm>
            <a:off x="4762500" y="3683000"/>
            <a:ext cx="26670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지식</a:t>
            </a:r>
            <a:r>
              <a:rPr lang="ko-KR" altLang="en-US" sz="1200" b="1" dirty="0">
                <a:solidFill>
                  <a:srgbClr val="B388F0"/>
                </a:solidFill>
                <a:latin typeface="Pretendard"/>
              </a:rPr>
              <a:t>  Knowledge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62500" y="4089400"/>
            <a:ext cx="2692400" cy="812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답변의 근거가 되는 기준 문서. 오늘은 4종을 등록한다</a:t>
            </a:r>
          </a:p>
        </p:txBody>
      </p:sp>
      <p:sp>
        <p:nvSpPr>
          <p:cNvPr id="29" name="Shape 29"/>
          <p:cNvSpPr/>
          <p:nvPr/>
        </p:nvSpPr>
        <p:spPr>
          <a:xfrm>
            <a:off x="8001000" y="3505200"/>
            <a:ext cx="3175000" cy="1524000"/>
          </a:xfrm>
          <a:prstGeom prst="roundRect">
            <a:avLst/>
          </a:prstGeom>
          <a:solidFill>
            <a:srgbClr val="0D1A3A"/>
          </a:solidFill>
          <a:ln w="19050">
            <a:solidFill>
              <a:srgbClr val="B38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TextBox 30"/>
          <p:cNvSpPr txBox="1"/>
          <p:nvPr/>
        </p:nvSpPr>
        <p:spPr>
          <a:xfrm>
            <a:off x="8255000" y="3683000"/>
            <a:ext cx="26670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토픽</a:t>
            </a:r>
            <a:r>
              <a:rPr lang="ko-KR" altLang="en-US" sz="1200" b="1" dirty="0">
                <a:solidFill>
                  <a:srgbClr val="B388F0"/>
                </a:solidFill>
                <a:latin typeface="Pretendard"/>
              </a:rPr>
              <a:t>  Topic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55000" y="4089400"/>
            <a:ext cx="2692400" cy="812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발화가 인식되면 노드를 순서대로 실행하는 시나리오</a:t>
            </a:r>
          </a:p>
        </p:txBody>
      </p:sp>
      <p:sp>
        <p:nvSpPr>
          <p:cNvPr id="32" name="Shape 32"/>
          <p:cNvSpPr/>
          <p:nvPr/>
        </p:nvSpPr>
        <p:spPr>
          <a:xfrm>
            <a:off x="1016000" y="5384800"/>
            <a:ext cx="10160000" cy="914400"/>
          </a:xfrm>
          <a:prstGeom prst="roundRect">
            <a:avLst/>
          </a:prstGeom>
          <a:solidFill>
            <a:srgbClr val="101C3D"/>
          </a:solidFill>
          <a:ln w="19050">
            <a:solidFill>
              <a:srgbClr val="06D6A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3" name="TextBox 33"/>
          <p:cNvSpPr txBox="1"/>
          <p:nvPr/>
        </p:nvSpPr>
        <p:spPr>
          <a:xfrm>
            <a:off x="1244600" y="5486400"/>
            <a:ext cx="97028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HITL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 자동화 중간에 사람의 검토·승인·결정을 끼워 넣는 설계 패턴   ·   </a:t>
            </a: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트랜잭션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 전부 성공 아니면 전부 취소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4600" y="5842000"/>
            <a:ext cx="97028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낯선 말이 나오면 교안 부록 「용어집」을 참고하세요. 지원자 데이터는 모두 AI가 생성한 가상 인물입니다.</a:t>
            </a:r>
          </a:p>
        </p:txBody>
      </p:sp>
    </p:spTree>
    <p:extLst>
      <p:ext uri="{BB962C8B-B14F-4D97-AF65-F5344CB8AC3E}">
        <p14:creationId xmlns:p14="http://schemas.microsoft.com/office/powerpoint/2010/main" val="2442553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BA8246F-F38E-4DF7-8111-2D4DB0B378B4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D740C-A13B-461A-A99D-20D40AD2EFD9}"/>
              </a:ext>
            </a:extLst>
          </p:cNvPr>
          <p:cNvSpPr txBox="1"/>
          <p:nvPr/>
        </p:nvSpPr>
        <p:spPr>
          <a:xfrm>
            <a:off x="1016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WHAT WE'RE BUILDING</a:t>
            </a:r>
            <a:endParaRPr lang="ko-KR" altLang="en-US" sz="1300" b="1">
              <a:solidFill>
                <a:srgbClr val="06D6A0"/>
              </a:solidFill>
              <a:latin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434F1-EB61-46D5-8414-1A5DB10822B4}"/>
              </a:ext>
            </a:extLst>
          </p:cNvPr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2800" b="1">
                <a:solidFill>
                  <a:srgbClr val="FFFFFF"/>
                </a:solidFill>
                <a:latin typeface="Pretendard"/>
              </a:rPr>
              <a:t>Lab 1–7: </a:t>
            </a:r>
            <a:r>
              <a:rPr lang="ko-KR" altLang="en-US" sz="2800" b="1">
                <a:solidFill>
                  <a:srgbClr val="FFFFFF"/>
                </a:solidFill>
                <a:latin typeface="Pretendard"/>
              </a:rPr>
              <a:t>무엇을 만드나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EA5A94-83B7-4CDC-AAD5-0DC27D9F0E2F}"/>
              </a:ext>
            </a:extLst>
          </p:cNvPr>
          <p:cNvSpPr/>
          <p:nvPr/>
        </p:nvSpPr>
        <p:spPr>
          <a:xfrm>
            <a:off x="1016000" y="1422400"/>
            <a:ext cx="10160000" cy="12700"/>
          </a:xfrm>
          <a:prstGeom prst="rect">
            <a:avLst/>
          </a:prstGeom>
          <a:solidFill>
            <a:srgbClr val="2A35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244FF2B-9EB9-471A-8675-9CB3E42B7AF1}"/>
              </a:ext>
            </a:extLst>
          </p:cNvPr>
          <p:cNvSpPr/>
          <p:nvPr/>
        </p:nvSpPr>
        <p:spPr>
          <a:xfrm>
            <a:off x="1016000" y="1625600"/>
            <a:ext cx="4889500" cy="431800"/>
          </a:xfrm>
          <a:prstGeom prst="roundRect">
            <a:avLst/>
          </a:prstGeom>
          <a:solidFill>
            <a:srgbClr val="1A2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CF9FAB-E4D0-4CAC-8357-F997F8E10B61}"/>
              </a:ext>
            </a:extLst>
          </p:cNvPr>
          <p:cNvSpPr txBox="1"/>
          <p:nvPr/>
        </p:nvSpPr>
        <p:spPr>
          <a:xfrm>
            <a:off x="1219200" y="1701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06D6A0"/>
                </a:solidFill>
                <a:latin typeface="Pretendard"/>
              </a:rPr>
              <a:t>오전 파트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3804C-F51E-4708-959E-917854E38C0B}"/>
              </a:ext>
            </a:extLst>
          </p:cNvPr>
          <p:cNvSpPr txBox="1"/>
          <p:nvPr/>
        </p:nvSpPr>
        <p:spPr>
          <a:xfrm>
            <a:off x="2235200" y="17272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A8B2D8"/>
                </a:solidFill>
                <a:latin typeface="Pretendard"/>
              </a:rPr>
              <a:t>에이전트 만들고 사용하기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7A856F5-EB96-4177-A860-863D62B9C114}"/>
              </a:ext>
            </a:extLst>
          </p:cNvPr>
          <p:cNvSpPr/>
          <p:nvPr/>
        </p:nvSpPr>
        <p:spPr>
          <a:xfrm>
            <a:off x="6286500" y="1625600"/>
            <a:ext cx="4889500" cy="431800"/>
          </a:xfrm>
          <a:prstGeom prst="roundRect">
            <a:avLst/>
          </a:prstGeom>
          <a:solidFill>
            <a:srgbClr val="1A1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4DE514-85AB-491F-8C35-757EE8683420}"/>
              </a:ext>
            </a:extLst>
          </p:cNvPr>
          <p:cNvSpPr txBox="1"/>
          <p:nvPr/>
        </p:nvSpPr>
        <p:spPr>
          <a:xfrm>
            <a:off x="6489700" y="1701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4361EE"/>
                </a:solidFill>
                <a:latin typeface="Pretendard"/>
              </a:rPr>
              <a:t>오후 파트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24C85E-D105-4FBD-8068-7D66E32ABB6B}"/>
              </a:ext>
            </a:extLst>
          </p:cNvPr>
          <p:cNvSpPr txBox="1"/>
          <p:nvPr/>
        </p:nvSpPr>
        <p:spPr>
          <a:xfrm>
            <a:off x="7505700" y="17272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A8B2D8"/>
                </a:solidFill>
                <a:latin typeface="Pretendard"/>
              </a:rPr>
              <a:t>흐름 빌드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51EB88D-5488-456D-A6CD-FEB84C811876}"/>
              </a:ext>
            </a:extLst>
          </p:cNvPr>
          <p:cNvSpPr/>
          <p:nvPr/>
        </p:nvSpPr>
        <p:spPr>
          <a:xfrm>
            <a:off x="1016000" y="2184400"/>
            <a:ext cx="4889500" cy="1168400"/>
          </a:xfrm>
          <a:prstGeom prst="roundRect">
            <a:avLst/>
          </a:prstGeom>
          <a:solidFill>
            <a:srgbClr val="11182F"/>
          </a:solidFill>
          <a:ln w="12700" cap="flat" cmpd="sng" algn="ctr">
            <a:solidFill>
              <a:srgbClr val="232B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A7EE1F-5236-4CA2-A42F-AB9D714027BF}"/>
              </a:ext>
            </a:extLst>
          </p:cNvPr>
          <p:cNvSpPr/>
          <p:nvPr/>
        </p:nvSpPr>
        <p:spPr>
          <a:xfrm>
            <a:off x="1016000" y="2184400"/>
            <a:ext cx="101600" cy="1168400"/>
          </a:xfrm>
          <a:prstGeom prst="rect">
            <a:avLst/>
          </a:prstGeom>
          <a:solidFill>
            <a:srgbClr val="2ECC7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90A167-DC02-4007-BA15-73E5A70762CF}"/>
              </a:ext>
            </a:extLst>
          </p:cNvPr>
          <p:cNvSpPr txBox="1"/>
          <p:nvPr/>
        </p:nvSpPr>
        <p:spPr>
          <a:xfrm>
            <a:off x="1320800" y="23368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200" b="1">
                <a:solidFill>
                  <a:srgbClr val="2ECC71"/>
                </a:solidFill>
                <a:latin typeface="Pretendard"/>
              </a:rPr>
              <a:t>Lab 1</a:t>
            </a:r>
            <a:endParaRPr lang="ko-KR" altLang="en-US" sz="1200" b="1">
              <a:solidFill>
                <a:srgbClr val="2ECC71"/>
              </a:solidFill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78F229-EC88-4F26-A9C5-178469780367}"/>
              </a:ext>
            </a:extLst>
          </p:cNvPr>
          <p:cNvSpPr txBox="1"/>
          <p:nvPr/>
        </p:nvSpPr>
        <p:spPr>
          <a:xfrm>
            <a:off x="1320800" y="25654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환경 받기 (10분)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DC4545-2FF4-4071-9F64-BAC77C387F9E}"/>
              </a:ext>
            </a:extLst>
          </p:cNvPr>
          <p:cNvSpPr txBox="1"/>
          <p:nvPr/>
        </p:nvSpPr>
        <p:spPr>
          <a:xfrm>
            <a:off x="1320800" y="28956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A8B2D8"/>
                </a:solidFill>
                <a:latin typeface="Pretendard"/>
              </a:rPr>
              <a:t>솔루션 가져오기 → 리스트 생성 → </a:t>
            </a:r>
            <a:r>
              <a:rPr lang="en-US" altLang="ko-KR" sz="1100">
                <a:solidFill>
                  <a:srgbClr val="A8B2D8"/>
                </a:solidFill>
                <a:latin typeface="Pretendard"/>
              </a:rPr>
              <a:t>42</a:t>
            </a:r>
            <a:r>
              <a:rPr lang="ko-KR" altLang="en-US" sz="1100">
                <a:solidFill>
                  <a:srgbClr val="A8B2D8"/>
                </a:solidFill>
                <a:latin typeface="Pretendard"/>
              </a:rPr>
              <a:t>건 데이터 적재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9B28162-75E3-475A-9453-6BAD7A1414C3}"/>
              </a:ext>
            </a:extLst>
          </p:cNvPr>
          <p:cNvSpPr/>
          <p:nvPr/>
        </p:nvSpPr>
        <p:spPr>
          <a:xfrm>
            <a:off x="1016000" y="3479800"/>
            <a:ext cx="4889500" cy="1168400"/>
          </a:xfrm>
          <a:prstGeom prst="roundRect">
            <a:avLst/>
          </a:prstGeom>
          <a:solidFill>
            <a:srgbClr val="11182F"/>
          </a:solidFill>
          <a:ln w="12700" cap="flat" cmpd="sng" algn="ctr">
            <a:solidFill>
              <a:srgbClr val="232B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2702BE-B115-48C8-A0D5-8BC571DBA539}"/>
              </a:ext>
            </a:extLst>
          </p:cNvPr>
          <p:cNvSpPr/>
          <p:nvPr/>
        </p:nvSpPr>
        <p:spPr>
          <a:xfrm>
            <a:off x="1016000" y="3479800"/>
            <a:ext cx="101600" cy="1168400"/>
          </a:xfrm>
          <a:prstGeom prst="rect">
            <a:avLst/>
          </a:prstGeom>
          <a:solidFill>
            <a:srgbClr val="3498D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7ADDF-E08B-49F2-9E5C-486343EF37C4}"/>
              </a:ext>
            </a:extLst>
          </p:cNvPr>
          <p:cNvSpPr txBox="1"/>
          <p:nvPr/>
        </p:nvSpPr>
        <p:spPr>
          <a:xfrm>
            <a:off x="1320800" y="36322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200" b="1">
                <a:solidFill>
                  <a:srgbClr val="3498DB"/>
                </a:solidFill>
                <a:latin typeface="Pretendard"/>
              </a:rPr>
              <a:t>Lab 2</a:t>
            </a:r>
            <a:endParaRPr lang="ko-KR" altLang="en-US" sz="1200" b="1">
              <a:solidFill>
                <a:srgbClr val="3498DB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7110F2-2D58-4D31-86C2-60AF927B181B}"/>
              </a:ext>
            </a:extLst>
          </p:cNvPr>
          <p:cNvSpPr txBox="1"/>
          <p:nvPr/>
        </p:nvSpPr>
        <p:spPr>
          <a:xfrm>
            <a:off x="1320800" y="38608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에이전트 만들기 (10분)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BB2CC6-7363-4E56-AE41-AD8D5E70876A}"/>
              </a:ext>
            </a:extLst>
          </p:cNvPr>
          <p:cNvSpPr txBox="1"/>
          <p:nvPr/>
        </p:nvSpPr>
        <p:spPr>
          <a:xfrm>
            <a:off x="1320800" y="4191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>
                <a:solidFill>
                  <a:srgbClr val="A8B2D8"/>
                </a:solidFill>
                <a:latin typeface="Pretendard"/>
              </a:rPr>
              <a:t>CS </a:t>
            </a:r>
            <a:r>
              <a:rPr lang="ko-KR" altLang="en-US" sz="1100">
                <a:solidFill>
                  <a:srgbClr val="A8B2D8"/>
                </a:solidFill>
                <a:latin typeface="Pretendard"/>
              </a:rPr>
              <a:t>에이전트 생성 → </a:t>
            </a:r>
            <a:r>
              <a:rPr lang="en-US" altLang="ko-KR" sz="1100">
                <a:solidFill>
                  <a:srgbClr val="A8B2D8"/>
                </a:solidFill>
                <a:latin typeface="Pretendard"/>
              </a:rPr>
              <a:t>Knowledge 4</a:t>
            </a:r>
            <a:r>
              <a:rPr lang="ko-KR" altLang="en-US" sz="1100">
                <a:solidFill>
                  <a:srgbClr val="A8B2D8"/>
                </a:solidFill>
                <a:latin typeface="Pretendard"/>
              </a:rPr>
              <a:t>종 → 지침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567453A-FDCC-4C53-A91B-A1E4FFFA960F}"/>
              </a:ext>
            </a:extLst>
          </p:cNvPr>
          <p:cNvSpPr/>
          <p:nvPr/>
        </p:nvSpPr>
        <p:spPr>
          <a:xfrm>
            <a:off x="1016000" y="4775200"/>
            <a:ext cx="4889500" cy="1168400"/>
          </a:xfrm>
          <a:prstGeom prst="roundRect">
            <a:avLst/>
          </a:prstGeom>
          <a:solidFill>
            <a:srgbClr val="11182F"/>
          </a:solidFill>
          <a:ln w="12700" cap="flat" cmpd="sng" algn="ctr">
            <a:solidFill>
              <a:srgbClr val="232B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17478A5-F6AB-4FE7-8E27-90ED6642E5D0}"/>
              </a:ext>
            </a:extLst>
          </p:cNvPr>
          <p:cNvSpPr/>
          <p:nvPr/>
        </p:nvSpPr>
        <p:spPr>
          <a:xfrm>
            <a:off x="1016000" y="4775200"/>
            <a:ext cx="101600" cy="1168400"/>
          </a:xfrm>
          <a:prstGeom prst="rect">
            <a:avLst/>
          </a:prstGeom>
          <a:solidFill>
            <a:srgbClr val="9B59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6E4C7D-C907-4C43-BB86-3F14416884E2}"/>
              </a:ext>
            </a:extLst>
          </p:cNvPr>
          <p:cNvSpPr txBox="1"/>
          <p:nvPr/>
        </p:nvSpPr>
        <p:spPr>
          <a:xfrm>
            <a:off x="1320800" y="49276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200" b="1">
                <a:solidFill>
                  <a:srgbClr val="9B59B6"/>
                </a:solidFill>
                <a:latin typeface="Pretendard"/>
              </a:rPr>
              <a:t>Lab 3</a:t>
            </a:r>
            <a:endParaRPr lang="ko-KR" altLang="en-US" sz="1200" b="1">
              <a:solidFill>
                <a:srgbClr val="9B59B6"/>
              </a:solidFill>
              <a:latin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B87F0D-CAFA-40CE-AD1A-A14428436B84}"/>
              </a:ext>
            </a:extLst>
          </p:cNvPr>
          <p:cNvSpPr txBox="1"/>
          <p:nvPr/>
        </p:nvSpPr>
        <p:spPr>
          <a:xfrm>
            <a:off x="1320800" y="51562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커넥터 구성 (30분)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71AD5A-73E8-450B-A4F7-9075FC7DEADF}"/>
              </a:ext>
            </a:extLst>
          </p:cNvPr>
          <p:cNvSpPr txBox="1"/>
          <p:nvPr/>
        </p:nvSpPr>
        <p:spPr>
          <a:xfrm>
            <a:off x="1320800" y="54864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A8B2D8"/>
                </a:solidFill>
                <a:latin typeface="Pretendard"/>
              </a:rPr>
              <a:t>커넥터 도구 등록 → 조회·평가·질문 생성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D0DA498-C432-4350-A0C0-1004566ACCA3}"/>
              </a:ext>
            </a:extLst>
          </p:cNvPr>
          <p:cNvSpPr/>
          <p:nvPr/>
        </p:nvSpPr>
        <p:spPr>
          <a:xfrm>
            <a:off x="6286500" y="2184400"/>
            <a:ext cx="4889500" cy="863600"/>
          </a:xfrm>
          <a:prstGeom prst="roundRect">
            <a:avLst/>
          </a:prstGeom>
          <a:solidFill>
            <a:srgbClr val="11182F"/>
          </a:solidFill>
          <a:ln w="12700" cap="flat" cmpd="sng" algn="ctr">
            <a:solidFill>
              <a:srgbClr val="232B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8583AE-D367-4154-9E4B-D29233A313ED}"/>
              </a:ext>
            </a:extLst>
          </p:cNvPr>
          <p:cNvSpPr/>
          <p:nvPr/>
        </p:nvSpPr>
        <p:spPr>
          <a:xfrm>
            <a:off x="6286500" y="2184400"/>
            <a:ext cx="101600" cy="8636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2AF6F4-76AE-4F4B-AB98-9823D0431D10}"/>
              </a:ext>
            </a:extLst>
          </p:cNvPr>
          <p:cNvSpPr txBox="1"/>
          <p:nvPr/>
        </p:nvSpPr>
        <p:spPr>
          <a:xfrm>
            <a:off x="6591300" y="22987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>
                <a:solidFill>
                  <a:srgbClr val="E67E22"/>
                </a:solidFill>
                <a:latin typeface="Pretendard"/>
              </a:rPr>
              <a:t>Lab 4</a:t>
            </a:r>
            <a:endParaRPr lang="ko-KR" altLang="en-US" sz="1100" b="1">
              <a:solidFill>
                <a:srgbClr val="E67E22"/>
              </a:solidFill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9F1457-5455-4D98-B090-10962309CDA0}"/>
              </a:ext>
            </a:extLst>
          </p:cNvPr>
          <p:cNvSpPr txBox="1"/>
          <p:nvPr/>
        </p:nvSpPr>
        <p:spPr>
          <a:xfrm>
            <a:off x="6591300" y="2501900"/>
            <a:ext cx="4381500" cy="215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적재 흐름 (50분)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264418-E84D-495E-A190-0502EB8F70EE}"/>
              </a:ext>
            </a:extLst>
          </p:cNvPr>
          <p:cNvSpPr txBox="1"/>
          <p:nvPr/>
        </p:nvSpPr>
        <p:spPr>
          <a:xfrm>
            <a:off x="6591300" y="2768600"/>
            <a:ext cx="4381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A8B2D8"/>
                </a:solidFill>
                <a:latin typeface="Pretendard"/>
              </a:rPr>
              <a:t>이메일 → AI 추출 → SharePoint 저장 · 대안 40분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D433132-5189-4FCD-BB9B-73A2A56A4EAD}"/>
              </a:ext>
            </a:extLst>
          </p:cNvPr>
          <p:cNvSpPr/>
          <p:nvPr/>
        </p:nvSpPr>
        <p:spPr>
          <a:xfrm>
            <a:off x="6286500" y="3175000"/>
            <a:ext cx="4889500" cy="863600"/>
          </a:xfrm>
          <a:prstGeom prst="roundRect">
            <a:avLst/>
          </a:prstGeom>
          <a:solidFill>
            <a:srgbClr val="11182F"/>
          </a:solidFill>
          <a:ln w="12700" cap="flat" cmpd="sng" algn="ctr">
            <a:solidFill>
              <a:srgbClr val="232B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03133E-B432-46AC-AF5C-CAEA0AFB3CE8}"/>
              </a:ext>
            </a:extLst>
          </p:cNvPr>
          <p:cNvSpPr/>
          <p:nvPr/>
        </p:nvSpPr>
        <p:spPr>
          <a:xfrm>
            <a:off x="6286500" y="3175000"/>
            <a:ext cx="101600" cy="863600"/>
          </a:xfrm>
          <a:prstGeom prst="rect">
            <a:avLst/>
          </a:prstGeom>
          <a:solidFill>
            <a:srgbClr val="1ABC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E7DA86-1BF5-4EB3-B505-FDC069B07883}"/>
              </a:ext>
            </a:extLst>
          </p:cNvPr>
          <p:cNvSpPr txBox="1"/>
          <p:nvPr/>
        </p:nvSpPr>
        <p:spPr>
          <a:xfrm>
            <a:off x="6591300" y="32893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>
                <a:solidFill>
                  <a:srgbClr val="1ABC9C"/>
                </a:solidFill>
                <a:latin typeface="Pretendard"/>
              </a:rPr>
              <a:t>Lab 5</a:t>
            </a:r>
            <a:endParaRPr lang="ko-KR" altLang="en-US" sz="1100" b="1">
              <a:solidFill>
                <a:srgbClr val="1ABC9C"/>
              </a:solidFill>
              <a:latin typeface="Pretendard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590CDA-F70E-4D19-BDF1-8B242D42F05B}"/>
              </a:ext>
            </a:extLst>
          </p:cNvPr>
          <p:cNvSpPr txBox="1"/>
          <p:nvPr/>
        </p:nvSpPr>
        <p:spPr>
          <a:xfrm>
            <a:off x="6591300" y="3492500"/>
            <a:ext cx="4381500" cy="215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승인 흐름 (40분)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DF49E4-1C67-4D2B-BC31-0669EDBD7411}"/>
              </a:ext>
            </a:extLst>
          </p:cNvPr>
          <p:cNvSpPr txBox="1"/>
          <p:nvPr/>
        </p:nvSpPr>
        <p:spPr>
          <a:xfrm>
            <a:off x="6591300" y="3759200"/>
            <a:ext cx="4381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>
                <a:solidFill>
                  <a:srgbClr val="A8B2D8"/>
                </a:solidFill>
                <a:latin typeface="Pretendard"/>
              </a:rPr>
              <a:t>SP </a:t>
            </a:r>
            <a:r>
              <a:rPr lang="ko-KR" altLang="en-US" sz="1100">
                <a:solidFill>
                  <a:srgbClr val="A8B2D8"/>
                </a:solidFill>
                <a:latin typeface="Pretendard"/>
              </a:rPr>
              <a:t>내장 승인 → </a:t>
            </a:r>
            <a:r>
              <a:rPr lang="en-US" altLang="ko-KR" sz="1100">
                <a:solidFill>
                  <a:srgbClr val="A8B2D8"/>
                </a:solidFill>
                <a:latin typeface="Pretendard"/>
              </a:rPr>
              <a:t>Teams·Outlook </a:t>
            </a:r>
            <a:r>
              <a:rPr lang="ko-KR" altLang="en-US" sz="1100">
                <a:solidFill>
                  <a:srgbClr val="A8B2D8"/>
                </a:solidFill>
                <a:latin typeface="Pretendard"/>
              </a:rPr>
              <a:t>알림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5A8A6D0-C599-41CF-99E9-012BE1D656C2}"/>
              </a:ext>
            </a:extLst>
          </p:cNvPr>
          <p:cNvSpPr/>
          <p:nvPr/>
        </p:nvSpPr>
        <p:spPr>
          <a:xfrm>
            <a:off x="6286500" y="4165600"/>
            <a:ext cx="4889500" cy="863600"/>
          </a:xfrm>
          <a:prstGeom prst="roundRect">
            <a:avLst/>
          </a:prstGeom>
          <a:solidFill>
            <a:srgbClr val="11182F"/>
          </a:solidFill>
          <a:ln w="12700" cap="flat" cmpd="sng" algn="ctr">
            <a:solidFill>
              <a:srgbClr val="232B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CCC5808-1E4F-4AF9-BE4B-8BD3ED29C9A5}"/>
              </a:ext>
            </a:extLst>
          </p:cNvPr>
          <p:cNvSpPr/>
          <p:nvPr/>
        </p:nvSpPr>
        <p:spPr>
          <a:xfrm>
            <a:off x="6286500" y="4165600"/>
            <a:ext cx="101600" cy="863600"/>
          </a:xfrm>
          <a:prstGeom prst="rect">
            <a:avLst/>
          </a:prstGeom>
          <a:solidFill>
            <a:srgbClr val="E74C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F976A8-5AFA-4F87-BD1A-4C284734811E}"/>
              </a:ext>
            </a:extLst>
          </p:cNvPr>
          <p:cNvSpPr txBox="1"/>
          <p:nvPr/>
        </p:nvSpPr>
        <p:spPr>
          <a:xfrm>
            <a:off x="6591300" y="42799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>
                <a:solidFill>
                  <a:srgbClr val="E74C3C"/>
                </a:solidFill>
                <a:latin typeface="Pretendard"/>
              </a:rPr>
              <a:t>Lab 6</a:t>
            </a:r>
            <a:endParaRPr lang="ko-KR" altLang="en-US" sz="1100" b="1">
              <a:solidFill>
                <a:srgbClr val="E74C3C"/>
              </a:solidFill>
              <a:latin typeface="Pretendar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73EDB2-ADC1-4216-B2BB-F174893C43D3}"/>
              </a:ext>
            </a:extLst>
          </p:cNvPr>
          <p:cNvSpPr txBox="1"/>
          <p:nvPr/>
        </p:nvSpPr>
        <p:spPr>
          <a:xfrm>
            <a:off x="6591300" y="4483100"/>
            <a:ext cx="4381500" cy="215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AI 적합도 반영 — 흐름 (30분)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EED427-8345-47BB-AB5D-65599AF1CD9F}"/>
              </a:ext>
            </a:extLst>
          </p:cNvPr>
          <p:cNvSpPr txBox="1"/>
          <p:nvPr/>
        </p:nvSpPr>
        <p:spPr>
          <a:xfrm>
            <a:off x="6591300" y="4749800"/>
            <a:ext cx="4381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100">
                <a:solidFill>
                  <a:srgbClr val="A8B2D8"/>
                </a:solidFill>
                <a:latin typeface="Pretendard"/>
              </a:rPr>
              <a:t>트랜잭션 흐름 → 다중 컬럼 원자 갱신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1BB2699-50F5-4A12-BA74-B29168771D23}"/>
              </a:ext>
            </a:extLst>
          </p:cNvPr>
          <p:cNvSpPr/>
          <p:nvPr/>
        </p:nvSpPr>
        <p:spPr>
          <a:xfrm>
            <a:off x="6286500" y="5156200"/>
            <a:ext cx="4889500" cy="863600"/>
          </a:xfrm>
          <a:prstGeom prst="roundRect">
            <a:avLst/>
          </a:prstGeom>
          <a:solidFill>
            <a:srgbClr val="11182F"/>
          </a:solidFill>
          <a:ln w="12700" cap="flat" cmpd="sng" algn="ctr">
            <a:solidFill>
              <a:srgbClr val="232B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C0AF72B-31DC-40CF-95F5-4DE7D7BA76B5}"/>
              </a:ext>
            </a:extLst>
          </p:cNvPr>
          <p:cNvSpPr/>
          <p:nvPr/>
        </p:nvSpPr>
        <p:spPr>
          <a:xfrm>
            <a:off x="6286500" y="5156200"/>
            <a:ext cx="101600" cy="863600"/>
          </a:xfrm>
          <a:prstGeom prst="rect">
            <a:avLst/>
          </a:prstGeom>
          <a:solidFill>
            <a:srgbClr val="F39C1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BC32B3-C38F-41F3-8525-15B125731F8D}"/>
              </a:ext>
            </a:extLst>
          </p:cNvPr>
          <p:cNvSpPr txBox="1"/>
          <p:nvPr/>
        </p:nvSpPr>
        <p:spPr>
          <a:xfrm>
            <a:off x="6591300" y="52705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>
                <a:solidFill>
                  <a:srgbClr val="F39C12"/>
                </a:solidFill>
                <a:latin typeface="Pretendard"/>
              </a:rPr>
              <a:t>Lab 7</a:t>
            </a:r>
            <a:endParaRPr lang="ko-KR" altLang="en-US" sz="1100" b="1">
              <a:solidFill>
                <a:srgbClr val="F39C12"/>
              </a:solidFill>
              <a:latin typeface="Pretendard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DD59B5-3BE4-4817-B1B0-C0E8D3B1D838}"/>
              </a:ext>
            </a:extLst>
          </p:cNvPr>
          <p:cNvSpPr txBox="1"/>
          <p:nvPr/>
        </p:nvSpPr>
        <p:spPr>
          <a:xfrm>
            <a:off x="6591300" y="5473700"/>
            <a:ext cx="4381500" cy="215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전형단계 변경 — 토픽 (60분)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2F6B29-3B08-4810-8CA8-2503357BA0D8}"/>
              </a:ext>
            </a:extLst>
          </p:cNvPr>
          <p:cNvSpPr txBox="1"/>
          <p:nvPr/>
        </p:nvSpPr>
        <p:spPr>
          <a:xfrm>
            <a:off x="6591300" y="5740400"/>
            <a:ext cx="4381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>
                <a:solidFill>
                  <a:srgbClr val="A8B2D8"/>
                </a:solidFill>
                <a:latin typeface="Pretendard"/>
              </a:rPr>
              <a:t>CS </a:t>
            </a:r>
            <a:r>
              <a:rPr lang="ko-KR" altLang="en-US" sz="1100">
                <a:solidFill>
                  <a:srgbClr val="A8B2D8"/>
                </a:solidFill>
                <a:latin typeface="Pretendard"/>
              </a:rPr>
              <a:t>토픽 → 적응형 카드 → 대화형 </a:t>
            </a:r>
            <a:r>
              <a:rPr lang="en-US" altLang="ko-KR" sz="1100">
                <a:solidFill>
                  <a:srgbClr val="A8B2D8"/>
                </a:solidFill>
                <a:latin typeface="Pretendard"/>
              </a:rPr>
              <a:t>HITL</a:t>
            </a:r>
            <a:endParaRPr lang="ko-KR" altLang="en-US" sz="1100">
              <a:solidFill>
                <a:srgbClr val="A8B2D8"/>
              </a:solidFill>
              <a:latin typeface="Pretendard"/>
            </a:endParaRPr>
          </a:p>
        </p:txBody>
      </p:sp>
      <p:sp>
        <p:nvSpPr>
          <p:cNvPr id="70" name="TotalTime"/>
          <p:cNvSpPr txBox="1"/>
          <p:nvPr/>
        </p:nvSpPr>
        <p:spPr>
          <a:xfrm>
            <a:off x="8763000" y="508000"/>
            <a:ext cx="2413000" cy="30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buNone/>
            </a:pP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실습 합계 3시간 50분</a:t>
            </a:r>
          </a:p>
        </p:txBody>
      </p:sp>
    </p:spTree>
    <p:extLst>
      <p:ext uri="{BB962C8B-B14F-4D97-AF65-F5344CB8AC3E}">
        <p14:creationId xmlns:p14="http://schemas.microsoft.com/office/powerpoint/2010/main" val="1800398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16000" y="508000"/>
            <a:ext cx="7620000" cy="279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en-US" altLang="ko-KR" sz="1300" b="1">
                <a:solidFill>
                  <a:srgbClr val="06D6A0"/>
                </a:solidFill>
                <a:latin typeface="Pretendard"/>
              </a:rPr>
              <a:t>OPENING</a:t>
            </a:r>
            <a:r>
              <a:rPr lang="ko-KR" altLang="en-US" sz="1300" b="1">
                <a:solidFill>
                  <a:srgbClr val="06D6A0"/>
                </a:solidFill>
                <a:latin typeface="Pretendard"/>
              </a:rPr>
              <a:t> </a:t>
            </a:r>
            <a:r>
              <a:rPr lang="ko-KR" altLang="en-US" sz="1300" b="1" dirty="0">
                <a:solidFill>
                  <a:srgbClr val="06D6A0"/>
                </a:solidFill>
                <a:latin typeface="Pretendard"/>
              </a:rPr>
              <a:t>DEMO · 실습 아님 (5분)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812800"/>
            <a:ext cx="10414000" cy="5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Pretendard"/>
              </a:rPr>
              <a:t>오프닝 시연 — 외부 자료 뉴스레터</a:t>
            </a:r>
          </a:p>
        </p:txBody>
      </p:sp>
      <p:sp>
        <p:nvSpPr>
          <p:cNvPr id="13" name="Shape 13"/>
          <p:cNvSpPr/>
          <p:nvPr/>
        </p:nvSpPr>
        <p:spPr>
          <a:xfrm>
            <a:off x="1016000" y="1422400"/>
            <a:ext cx="10160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4"/>
          <p:cNvSpPr/>
          <p:nvPr/>
        </p:nvSpPr>
        <p:spPr>
          <a:xfrm>
            <a:off x="1016000" y="1778000"/>
            <a:ext cx="4889500" cy="3175000"/>
          </a:xfrm>
          <a:prstGeom prst="roundRect">
            <a:avLst/>
          </a:prstGeom>
          <a:solidFill>
            <a:srgbClr val="0D1A3A"/>
          </a:solidFill>
          <a:ln w="25400">
            <a:solidFill>
              <a:srgbClr val="06D6A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Box 15"/>
          <p:cNvSpPr txBox="1"/>
          <p:nvPr/>
        </p:nvSpPr>
        <p:spPr>
          <a:xfrm>
            <a:off x="1320800" y="2032000"/>
            <a:ext cx="42672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무엇을 보여드리나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0" y="2540000"/>
            <a:ext cx="4267200" cy="1524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▪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정해진 시각에 외부 자료를 수집</a:t>
            </a:r>
          </a:p>
          <a:p>
            <a:pPr algn="l">
              <a:spcBef>
                <a:spcPts val="1300"/>
              </a:spcBef>
              <a:buNone/>
            </a:pP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▪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AI가 요약해 뉴스레터 형태로 발송</a:t>
            </a:r>
          </a:p>
          <a:p>
            <a:pPr algn="l">
              <a:spcBef>
                <a:spcPts val="1300"/>
              </a:spcBef>
              <a:buNone/>
            </a:pPr>
            <a:r>
              <a:rPr lang="ko-KR" altLang="en-US" sz="1400" b="1" dirty="0">
                <a:solidFill>
                  <a:srgbClr val="06D6A0"/>
                </a:solidFill>
                <a:latin typeface="Pretendard"/>
              </a:rPr>
              <a:t>▪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스케줄 트리거로 자동 반복</a:t>
            </a:r>
          </a:p>
        </p:txBody>
      </p:sp>
      <p:sp>
        <p:nvSpPr>
          <p:cNvPr id="17" name="Shape 17"/>
          <p:cNvSpPr/>
          <p:nvPr/>
        </p:nvSpPr>
        <p:spPr>
          <a:xfrm>
            <a:off x="1320800" y="4140200"/>
            <a:ext cx="4279900" cy="4064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Box 18"/>
          <p:cNvSpPr txBox="1"/>
          <p:nvPr/>
        </p:nvSpPr>
        <p:spPr>
          <a:xfrm>
            <a:off x="1320800" y="4140200"/>
            <a:ext cx="4279900" cy="406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300" b="1" dirty="0">
                <a:solidFill>
                  <a:srgbClr val="0F1535"/>
                </a:solidFill>
                <a:latin typeface="Pretendard"/>
              </a:rPr>
              <a:t>동작과 구성 요소를 화면으로</a:t>
            </a:r>
          </a:p>
        </p:txBody>
      </p:sp>
      <p:sp>
        <p:nvSpPr>
          <p:cNvPr id="19" name="Shape 19"/>
          <p:cNvSpPr/>
          <p:nvPr/>
        </p:nvSpPr>
        <p:spPr>
          <a:xfrm>
            <a:off x="6286500" y="1778000"/>
            <a:ext cx="4889500" cy="3175000"/>
          </a:xfrm>
          <a:prstGeom prst="roundRect">
            <a:avLst/>
          </a:prstGeom>
          <a:solidFill>
            <a:srgbClr val="0D1A3A"/>
          </a:solidFill>
          <a:ln w="25400">
            <a:solidFill>
              <a:srgbClr val="4361E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TextBox 20"/>
          <p:cNvSpPr txBox="1"/>
          <p:nvPr/>
        </p:nvSpPr>
        <p:spPr>
          <a:xfrm>
            <a:off x="6591300" y="2032000"/>
            <a:ext cx="42672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/>
              </a:rPr>
              <a:t>왜 Flow 중심인가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91300" y="2540000"/>
            <a:ext cx="4267200" cy="1524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4361EE"/>
                </a:solidFill>
                <a:latin typeface="Pretendard"/>
              </a:rPr>
              <a:t>▪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정해진 시각·정해진 순서 → 흐름</a:t>
            </a:r>
          </a:p>
          <a:p>
            <a:pPr algn="l">
              <a:spcBef>
                <a:spcPts val="1300"/>
              </a:spcBef>
              <a:buNone/>
            </a:pPr>
            <a:r>
              <a:rPr lang="ko-KR" altLang="en-US" sz="1400" b="1" dirty="0">
                <a:solidFill>
                  <a:srgbClr val="4361EE"/>
                </a:solidFill>
                <a:latin typeface="Pretendard"/>
              </a:rPr>
              <a:t>▪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대화하며 판단이 필요할 때 → 에이전트</a:t>
            </a:r>
          </a:p>
          <a:p>
            <a:pPr algn="l">
              <a:spcBef>
                <a:spcPts val="1300"/>
              </a:spcBef>
              <a:buNone/>
            </a:pPr>
            <a:r>
              <a:rPr lang="ko-KR" altLang="en-US" sz="1400" b="1" dirty="0">
                <a:solidFill>
                  <a:srgbClr val="4361EE"/>
                </a:solidFill>
                <a:latin typeface="Pretendard"/>
              </a:rPr>
              <a:t>▪ </a:t>
            </a: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조회·요약은 커넥터와 지침으로 충분</a:t>
            </a:r>
          </a:p>
        </p:txBody>
      </p:sp>
      <p:sp>
        <p:nvSpPr>
          <p:cNvPr id="22" name="Shape 22"/>
          <p:cNvSpPr/>
          <p:nvPr/>
        </p:nvSpPr>
        <p:spPr>
          <a:xfrm>
            <a:off x="6591300" y="4140200"/>
            <a:ext cx="4279900" cy="4064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Box 23"/>
          <p:cNvSpPr txBox="1"/>
          <p:nvPr/>
        </p:nvSpPr>
        <p:spPr>
          <a:xfrm>
            <a:off x="6591300" y="4140200"/>
            <a:ext cx="4279900" cy="406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Pretendard"/>
              </a:rPr>
              <a:t>Agent와 Flow의 적합 기준</a:t>
            </a:r>
          </a:p>
        </p:txBody>
      </p:sp>
      <p:sp>
        <p:nvSpPr>
          <p:cNvPr id="24" name="Shape 24"/>
          <p:cNvSpPr/>
          <p:nvPr/>
        </p:nvSpPr>
        <p:spPr>
          <a:xfrm>
            <a:off x="1016000" y="5257800"/>
            <a:ext cx="10160000" cy="1041400"/>
          </a:xfrm>
          <a:prstGeom prst="roundRect">
            <a:avLst/>
          </a:prstGeom>
          <a:solidFill>
            <a:srgbClr val="101C3D"/>
          </a:solidFill>
          <a:ln w="19050">
            <a:solidFill>
              <a:srgbClr val="06D6A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5" name="TextBox 25"/>
          <p:cNvSpPr txBox="1"/>
          <p:nvPr/>
        </p:nvSpPr>
        <p:spPr>
          <a:xfrm>
            <a:off x="1244600" y="5384800"/>
            <a:ext cx="97028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Pretendard"/>
              </a:rPr>
              <a:t>정기 수집·요약·전달 시나리오는 활용도가 높지만 구현 축이 Flow에 가깝습니다.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4600" y="5740400"/>
            <a:ext cx="9702800" cy="406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A8B2D8"/>
                </a:solidFill>
                <a:latin typeface="Pretendard"/>
              </a:rPr>
              <a:t>이번 과정에서는 시연으로 소개하고, 직접 구축이 필요하면 별도 세션으로 논의드리겠습니다.</a:t>
            </a:r>
          </a:p>
        </p:txBody>
      </p:sp>
    </p:spTree>
    <p:extLst>
      <p:ext uri="{BB962C8B-B14F-4D97-AF65-F5344CB8AC3E}">
        <p14:creationId xmlns:p14="http://schemas.microsoft.com/office/powerpoint/2010/main" val="2088512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lBa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yebrow"/>
          <p:cNvSpPr txBox="1"/>
          <p:nvPr/>
        </p:nvSpPr>
        <p:spPr>
          <a:xfrm>
            <a:off x="1016000" y="19050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06D6A0"/>
                </a:solidFill>
                <a:latin typeface="Pretendard"/>
                <a:cs typeface="Pretendard"/>
              </a:rPr>
              <a:t>LET'S BUILD</a:t>
            </a:r>
          </a:p>
        </p:txBody>
      </p:sp>
      <p:sp>
        <p:nvSpPr>
          <p:cNvPr id="71" name="Div"/>
          <p:cNvSpPr/>
          <p:nvPr/>
        </p:nvSpPr>
        <p:spPr>
          <a:xfrm>
            <a:off x="5715000" y="2362200"/>
            <a:ext cx="7620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Head"/>
          <p:cNvSpPr txBox="1"/>
          <p:nvPr/>
        </p:nvSpPr>
        <p:spPr>
          <a:xfrm>
            <a:off x="1016000" y="2717800"/>
            <a:ext cx="10160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5200" b="1" dirty="0">
                <a:solidFill>
                  <a:srgbClr val="FFFFFF"/>
                </a:solidFill>
                <a:latin typeface="Gmarket Sans"/>
                <a:cs typeface="Gmarket Sans"/>
              </a:rPr>
              <a:t>이제, </a:t>
            </a:r>
            <a:r>
              <a:rPr lang="ko-KR" altLang="en-US" sz="5200" b="1" dirty="0">
                <a:solidFill>
                  <a:srgbClr val="06D6A0"/>
                </a:solidFill>
                <a:latin typeface="Gmarket Sans"/>
                <a:cs typeface="Gmarket Sans"/>
              </a:rPr>
              <a:t>시작합시다</a:t>
            </a:r>
          </a:p>
        </p:txBody>
      </p:sp>
      <p:sp>
        <p:nvSpPr>
          <p:cNvPr id="81" name="Sub"/>
          <p:cNvSpPr txBox="1"/>
          <p:nvPr/>
        </p:nvSpPr>
        <p:spPr>
          <a:xfrm>
            <a:off x="1016000" y="40132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800" dirty="0">
                <a:solidFill>
                  <a:srgbClr val="A8B2D8"/>
                </a:solidFill>
                <a:latin typeface="Pretendard"/>
                <a:cs typeface="Pretendard"/>
              </a:rPr>
              <a:t>오늘 배운 설계로, 채용 자동화를 직접 만들 시간입니다.</a:t>
            </a:r>
          </a:p>
        </p:txBody>
      </p:sp>
      <p:sp>
        <p:nvSpPr>
          <p:cNvPr id="82" name="Pill"/>
          <p:cNvSpPr/>
          <p:nvPr/>
        </p:nvSpPr>
        <p:spPr>
          <a:xfrm>
            <a:off x="1254720" y="4477084"/>
            <a:ext cx="9682560" cy="1129632"/>
          </a:xfrm>
          <a:prstGeom prst="roundRect">
            <a:avLst>
              <a:gd name="adj" fmla="val 50000"/>
            </a:avLst>
          </a:prstGeom>
          <a:solidFill>
            <a:srgbClr val="10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PillTxt"/>
          <p:cNvSpPr txBox="1"/>
          <p:nvPr/>
        </p:nvSpPr>
        <p:spPr>
          <a:xfrm>
            <a:off x="2891790" y="4775200"/>
            <a:ext cx="640842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ko-KR" sz="3000" b="1" dirty="0"/>
              <a:t>https://lepela.github.io/cs_lab_v2/</a:t>
            </a:r>
            <a:endParaRPr lang="ko-KR" altLang="ko-KR" sz="3000" b="1" dirty="0"/>
          </a:p>
        </p:txBody>
      </p:sp>
    </p:spTree>
    <p:extLst>
      <p:ext uri="{BB962C8B-B14F-4D97-AF65-F5344CB8AC3E}">
        <p14:creationId xmlns:p14="http://schemas.microsoft.com/office/powerpoint/2010/main" val="48331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571834726]">
  <a:themeElements>
    <a:clrScheme name="Office">
      <a:dk1>
        <a:srgbClr val="FFFFFF"/>
      </a:dk1>
      <a:lt1>
        <a:srgbClr val="0F1535"/>
      </a:lt1>
      <a:dk2>
        <a:srgbClr val="A8B2D8"/>
      </a:dk2>
      <a:lt2>
        <a:srgbClr val="0F1535"/>
      </a:lt2>
      <a:accent1>
        <a:srgbClr val="4361EE"/>
      </a:accent1>
      <a:accent2>
        <a:srgbClr val="06D6A0"/>
      </a:accent2>
      <a:accent3>
        <a:srgbClr val="7B2FBE"/>
      </a:accent3>
      <a:accent4>
        <a:srgbClr val="B83C1B"/>
      </a:accent4>
      <a:accent5>
        <a:srgbClr val="1B4FD8"/>
      </a:accent5>
      <a:accent6>
        <a:srgbClr val="6B7BA4"/>
      </a:accent6>
      <a:hlink>
        <a:srgbClr val="0563C1"/>
      </a:hlink>
      <a:folHlink>
        <a:srgbClr val="954F72"/>
      </a:folHlink>
    </a:clrScheme>
    <a:fontScheme name="Office">
      <a:majorFont>
        <a:latin typeface="Gmarket Sans" panose="020F0302020204030204"/>
        <a:ea typeface=""/>
        <a:cs typeface=""/>
        <a:font script="Jpan" typeface="游ゴシック Light"/>
        <a:font script="Hang" typeface="Gmarket Sans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74d2d3-fba8-4337-9dc1-5a531967a83c}">
  <we:reference id="WA200010001" version="1.0.0.1" store="en-US" storeType="OMEX"/>
  <we:alternateReferences/>
  <we:properties>
    <we:property name="Microsoft.Office.CampaignId" value="&quot;none&quot;"/>
    <we:property name="claude.fileId" value="&quot;f08a3297-40aa-488d-81fb-1dd52aa24f1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5467</TotalTime>
  <Words>3462</Words>
  <Application>Microsoft Office PowerPoint</Application>
  <PresentationFormat>와이드스크린</PresentationFormat>
  <Paragraphs>400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Gmarket Sans</vt:lpstr>
      <vt:lpstr>Pretendard</vt:lpstr>
      <vt:lpstr>맑은 고딕</vt:lpstr>
      <vt:lpstr>Arial</vt:lpstr>
      <vt:lpstr>Calibri</vt:lpstr>
      <vt:lpstr>Office Theme [1781571834726]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박종민</cp:lastModifiedBy>
  <cp:revision>21</cp:revision>
  <dcterms:created xsi:type="dcterms:W3CDTF">2018-06-07T21:39:02Z</dcterms:created>
  <dcterms:modified xsi:type="dcterms:W3CDTF">2026-07-30T23:51:56Z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